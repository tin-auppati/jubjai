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8288000" cy="10287000"/>
  <p:notesSz cx="6858000" cy="9144000"/>
  <p:embeddedFontLst>
    <p:embeddedFont>
      <p:font typeface="Aileron Bold" panose="020B0604020202020204" charset="0"/>
      <p:regular r:id="rId23"/>
    </p:embeddedFont>
    <p:embeddedFont>
      <p:font typeface="Aileron Ultra-Bold" panose="020B0604020202020204" charset="0"/>
      <p:regular r:id="rId24"/>
    </p:embeddedFont>
    <p:embeddedFont>
      <p:font typeface="IBM Plex Sans" panose="020B0503050203000203" pitchFamily="34" charset="0"/>
      <p:regular r:id="rId25"/>
      <p:bold r:id="rId26"/>
      <p:italic r:id="rId27"/>
      <p:boldItalic r:id="rId28"/>
    </p:embeddedFont>
    <p:embeddedFont>
      <p:font typeface="IBM Plex Sans Bold" panose="020B0803050203000203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5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78061" y="4306672"/>
            <a:ext cx="4426562" cy="4426562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A8DC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850931" y="393694"/>
            <a:ext cx="4426562" cy="4426562"/>
            <a:chOff x="0" y="0"/>
            <a:chExt cx="6350000" cy="635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A8DC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746627" y="3564595"/>
            <a:ext cx="12794746" cy="3404302"/>
            <a:chOff x="0" y="328657"/>
            <a:chExt cx="17059662" cy="4539070"/>
          </a:xfrm>
        </p:grpSpPr>
        <p:sp>
          <p:nvSpPr>
            <p:cNvPr id="7" name="TextBox 7"/>
            <p:cNvSpPr txBox="1"/>
            <p:nvPr/>
          </p:nvSpPr>
          <p:spPr>
            <a:xfrm>
              <a:off x="0" y="328657"/>
              <a:ext cx="17059662" cy="27340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839"/>
                </a:lnSpc>
              </a:pPr>
              <a:r>
                <a:rPr lang="en-US" sz="17999" b="1" spc="1799" dirty="0">
                  <a:solidFill>
                    <a:srgbClr val="494949"/>
                  </a:solidFill>
                  <a:latin typeface="Aileron Ultra-Bold" panose="020B0604020202020204" charset="0"/>
                  <a:ea typeface="Codec Pro Ultra-Bold"/>
                  <a:cs typeface="Codec Pro Ultra-Bold"/>
                  <a:sym typeface="Codec Pro Ultra-Bold"/>
                </a:rPr>
                <a:t>Jub</a:t>
              </a:r>
              <a:r>
                <a:rPr lang="en-US" sz="17999" b="1" spc="1799" dirty="0">
                  <a:solidFill>
                    <a:srgbClr val="FE97D4"/>
                  </a:solidFill>
                  <a:latin typeface="Aileron Ultra-Bold" panose="020B0604020202020204" charset="0"/>
                  <a:ea typeface="Codec Pro Ultra-Bold"/>
                  <a:cs typeface="Codec Pro Ultra-Bold"/>
                  <a:sym typeface="Codec Pro Ultra-Bold"/>
                </a:rPr>
                <a:t>jai</a:t>
              </a:r>
              <a:r>
                <a:rPr lang="en-US" sz="17999" b="1" spc="1799" dirty="0">
                  <a:solidFill>
                    <a:srgbClr val="494949"/>
                  </a:solidFill>
                  <a:latin typeface="Aileron Ultra-Bold" panose="020B0604020202020204" charset="0"/>
                  <a:ea typeface="Codec Pro Ultra-Bold"/>
                  <a:cs typeface="Codec Pro Ultra-Bold"/>
                  <a:sym typeface="Codec Pro Ultra-Bold"/>
                </a:rPr>
                <a:t> 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202669" y="3697845"/>
              <a:ext cx="8654324" cy="11698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419"/>
                </a:lnSpc>
              </a:pPr>
              <a:r>
                <a:rPr lang="en-US" sz="5000" dirty="0">
                  <a:solidFill>
                    <a:srgbClr val="4E4E4E"/>
                  </a:solidFill>
                  <a:latin typeface="IBM Plex Sans" panose="020B0503050203000203" pitchFamily="34" charset="0"/>
                  <a:ea typeface="Clear Sans"/>
                  <a:cs typeface="Clear Sans"/>
                  <a:sym typeface="Clear Sans"/>
                </a:rPr>
                <a:t>Expense Tracker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801083" y="9407613"/>
            <a:ext cx="8685834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4E4E4E"/>
                </a:solidFill>
                <a:latin typeface="IBM Plex Sans" panose="020B0503050203000203" pitchFamily="34" charset="0"/>
                <a:ea typeface="Clear Sans"/>
                <a:cs typeface="Clear Sans"/>
                <a:sym typeface="Clear Sans"/>
              </a:rPr>
              <a:t>MODERN APPLICATION DEVELOPMENT - 204212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28700" y="5697124"/>
            <a:ext cx="4426562" cy="4426562"/>
            <a:chOff x="0" y="0"/>
            <a:chExt cx="6350000" cy="6350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A8DC"/>
            </a:solidFill>
          </p:spPr>
          <p:txBody>
            <a:bodyPr/>
            <a:lstStyle/>
            <a:p>
              <a:endParaRPr lang="en-US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726992" y="4923156"/>
            <a:ext cx="4774557" cy="4114800"/>
          </a:xfrm>
          <a:custGeom>
            <a:avLst/>
            <a:gdLst/>
            <a:ahLst/>
            <a:cxnLst/>
            <a:rect l="l" t="t" r="r" b="b"/>
            <a:pathLst>
              <a:path w="4774557" h="4114800">
                <a:moveTo>
                  <a:pt x="0" y="0"/>
                </a:moveTo>
                <a:lnTo>
                  <a:pt x="4774557" y="0"/>
                </a:lnTo>
                <a:lnTo>
                  <a:pt x="47745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713108" y="680895"/>
            <a:ext cx="4847901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8000" b="1" dirty="0">
                <a:solidFill>
                  <a:srgbClr val="4E4E4E"/>
                </a:solidFill>
                <a:latin typeface="Aileron Ultra-Bold"/>
                <a:ea typeface="Aileron Ultra-Bold"/>
                <a:cs typeface="Clear Sans" panose="020B0604020202020204" charset="0"/>
                <a:sym typeface="Aileron Ultra-Bold"/>
              </a:rPr>
              <a:t>Objective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44398" y="2105277"/>
            <a:ext cx="6485202" cy="7321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3199" b="1" dirty="0">
                <a:solidFill>
                  <a:srgbClr val="4E4E4E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เพื่อให้ผู้ใช้งานบริหารรายรับ-รายจ่าย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44398" y="4102822"/>
            <a:ext cx="4774557" cy="7321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3199" b="1" dirty="0">
                <a:solidFill>
                  <a:srgbClr val="4E4E4E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ติดตามพฤติกรรมการใช้เงิน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44398" y="6100367"/>
            <a:ext cx="9005243" cy="732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3199" b="1" dirty="0">
                <a:solidFill>
                  <a:srgbClr val="4E4E4E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เก็บข้อมูลรายรับ-รายจ่ายได้อย่างสะดวก รวดเร็ว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923205" y="2809366"/>
            <a:ext cx="8659195" cy="13442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2800" dirty="0">
                <a:solidFill>
                  <a:srgbClr val="4E4E4E"/>
                </a:solidFill>
                <a:latin typeface="IBM Plex Sans"/>
                <a:ea typeface="IBM Plex Sans"/>
                <a:cs typeface="IBM Plex Sans"/>
                <a:sym typeface="IBM Plex Sans"/>
              </a:rPr>
              <a:t>มีการบันทึกรายรับ-รายจ่ายแยกเป็นหมวดหมู่ การกำหนด limit ของจำนวนเงินรายจ่ายได้ เพื่อการใช้จ่ายที่มีประสิทธิภาพ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923204" y="4746902"/>
            <a:ext cx="8659195" cy="13442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2800" dirty="0">
                <a:solidFill>
                  <a:srgbClr val="4E4E4E"/>
                </a:solidFill>
                <a:latin typeface="IBM Plex Sans"/>
                <a:ea typeface="IBM Plex Sans"/>
                <a:cs typeface="IBM Plex Sans"/>
                <a:sym typeface="IBM Plex Sans"/>
              </a:rPr>
              <a:t>มีกราฟและแผนภูมิสรุปการใช้จ่ายในช่วง วัน,เดือน,ปี และปฏิทินแสดงภาพรวมรายรับ-รายจ่ายในเดือนนั้นๆ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923204" y="6841693"/>
            <a:ext cx="8430595" cy="13442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2800" dirty="0">
                <a:solidFill>
                  <a:srgbClr val="4E4E4E"/>
                </a:solidFill>
                <a:latin typeface="IBM Plex Sans"/>
                <a:ea typeface="IBM Plex Sans"/>
                <a:cs typeface="IBM Plex Sans"/>
                <a:sym typeface="IBM Plex Sans"/>
              </a:rPr>
              <a:t>สามารถบันทึกข้อมูลได้สะดวก รวดเร็ว และเก็บข้อมูลได้มากกว่าการบันทึกลงสมุด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5435724" y="-2219478"/>
            <a:ext cx="4772748" cy="5472135"/>
            <a:chOff x="0" y="0"/>
            <a:chExt cx="5538414" cy="6350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538414" cy="6350000"/>
            </a:xfrm>
            <a:custGeom>
              <a:avLst/>
              <a:gdLst/>
              <a:ahLst/>
              <a:cxnLst/>
              <a:rect l="l" t="t" r="r" b="b"/>
              <a:pathLst>
                <a:path w="5538414" h="6350000">
                  <a:moveTo>
                    <a:pt x="2769207" y="0"/>
                  </a:moveTo>
                  <a:cubicBezTo>
                    <a:pt x="1239816" y="0"/>
                    <a:pt x="0" y="1421496"/>
                    <a:pt x="0" y="3175000"/>
                  </a:cubicBezTo>
                  <a:cubicBezTo>
                    <a:pt x="0" y="4928504"/>
                    <a:pt x="1239816" y="6350000"/>
                    <a:pt x="2769207" y="6350000"/>
                  </a:cubicBezTo>
                  <a:cubicBezTo>
                    <a:pt x="4298598" y="6350000"/>
                    <a:pt x="5538414" y="4928504"/>
                    <a:pt x="5538414" y="3175000"/>
                  </a:cubicBezTo>
                  <a:cubicBezTo>
                    <a:pt x="5538414" y="1421496"/>
                    <a:pt x="4298598" y="0"/>
                    <a:pt x="2769207" y="0"/>
                  </a:cubicBezTo>
                  <a:close/>
                </a:path>
              </a:pathLst>
            </a:custGeom>
            <a:solidFill>
              <a:srgbClr val="FFA8DC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825725" y="2884910"/>
            <a:ext cx="1219999" cy="1219999"/>
            <a:chOff x="0" y="0"/>
            <a:chExt cx="6350000" cy="6350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A8DC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726992" y="602304"/>
            <a:ext cx="1829199" cy="1829199"/>
            <a:chOff x="0" y="0"/>
            <a:chExt cx="6350000" cy="6350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A8DC"/>
            </a:solidFill>
          </p:spPr>
          <p:txBody>
            <a:bodyPr/>
            <a:lstStyle/>
            <a:p>
              <a:endParaRPr lang="en-US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280713" y="-810990"/>
            <a:ext cx="29899823" cy="11097990"/>
            <a:chOff x="0" y="0"/>
            <a:chExt cx="2798373" cy="10386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98373" cy="1038679"/>
            </a:xfrm>
            <a:custGeom>
              <a:avLst/>
              <a:gdLst/>
              <a:ahLst/>
              <a:cxnLst/>
              <a:rect l="l" t="t" r="r" b="b"/>
              <a:pathLst>
                <a:path w="2798373" h="1038679">
                  <a:moveTo>
                    <a:pt x="1399186" y="0"/>
                  </a:moveTo>
                  <a:lnTo>
                    <a:pt x="2798373" y="1038679"/>
                  </a:lnTo>
                  <a:lnTo>
                    <a:pt x="0" y="1038679"/>
                  </a:lnTo>
                  <a:lnTo>
                    <a:pt x="1399186" y="0"/>
                  </a:lnTo>
                  <a:close/>
                </a:path>
              </a:pathLst>
            </a:custGeom>
            <a:solidFill>
              <a:srgbClr val="D7CF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37246" y="444144"/>
              <a:ext cx="1923881" cy="520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5" name="Freeform 5"/>
          <p:cNvSpPr/>
          <p:nvPr/>
        </p:nvSpPr>
        <p:spPr>
          <a:xfrm>
            <a:off x="9144000" y="826553"/>
            <a:ext cx="7674572" cy="4316947"/>
          </a:xfrm>
          <a:custGeom>
            <a:avLst/>
            <a:gdLst/>
            <a:ahLst/>
            <a:cxnLst/>
            <a:rect l="l" t="t" r="r" b="b"/>
            <a:pathLst>
              <a:path w="7674572" h="4316947">
                <a:moveTo>
                  <a:pt x="0" y="0"/>
                </a:moveTo>
                <a:lnTo>
                  <a:pt x="7674572" y="0"/>
                </a:lnTo>
                <a:lnTo>
                  <a:pt x="7674572" y="4316947"/>
                </a:lnTo>
                <a:lnTo>
                  <a:pt x="0" y="43169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6" name="Group 6"/>
          <p:cNvGrpSpPr/>
          <p:nvPr/>
        </p:nvGrpSpPr>
        <p:grpSpPr>
          <a:xfrm>
            <a:off x="876598" y="5608254"/>
            <a:ext cx="7674572" cy="4251674"/>
            <a:chOff x="0" y="0"/>
            <a:chExt cx="1188992" cy="65869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88992" cy="658696"/>
            </a:xfrm>
            <a:custGeom>
              <a:avLst/>
              <a:gdLst/>
              <a:ahLst/>
              <a:cxnLst/>
              <a:rect l="l" t="t" r="r" b="b"/>
              <a:pathLst>
                <a:path w="1188992" h="658696">
                  <a:moveTo>
                    <a:pt x="0" y="0"/>
                  </a:moveTo>
                  <a:lnTo>
                    <a:pt x="1188992" y="0"/>
                  </a:lnTo>
                  <a:lnTo>
                    <a:pt x="1188992" y="658696"/>
                  </a:lnTo>
                  <a:lnTo>
                    <a:pt x="0" y="658696"/>
                  </a:lnTo>
                  <a:close/>
                </a:path>
              </a:pathLst>
            </a:custGeom>
            <a:blipFill>
              <a:blip r:embed="rId3"/>
              <a:stretch>
                <a:fillRect t="-767" b="-767"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0" y="5608254"/>
            <a:ext cx="7674572" cy="4251674"/>
            <a:chOff x="0" y="0"/>
            <a:chExt cx="1188992" cy="6586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88992" cy="658696"/>
            </a:xfrm>
            <a:custGeom>
              <a:avLst/>
              <a:gdLst/>
              <a:ahLst/>
              <a:cxnLst/>
              <a:rect l="l" t="t" r="r" b="b"/>
              <a:pathLst>
                <a:path w="1188992" h="658696">
                  <a:moveTo>
                    <a:pt x="0" y="0"/>
                  </a:moveTo>
                  <a:lnTo>
                    <a:pt x="1188992" y="0"/>
                  </a:lnTo>
                  <a:lnTo>
                    <a:pt x="1188992" y="658696"/>
                  </a:lnTo>
                  <a:lnTo>
                    <a:pt x="0" y="658696"/>
                  </a:lnTo>
                  <a:close/>
                </a:path>
              </a:pathLst>
            </a:custGeom>
            <a:blipFill>
              <a:blip r:embed="rId4"/>
              <a:stretch>
                <a:fillRect t="-767" b="-767"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344118" y="817028"/>
            <a:ext cx="3977815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8000" b="1" dirty="0">
                <a:solidFill>
                  <a:srgbClr val="CB6CE6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Feature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79421" y="2552700"/>
            <a:ext cx="6885482" cy="18419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4E4E4E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Login/Sign Up Page</a:t>
            </a:r>
          </a:p>
          <a:p>
            <a:pPr marL="755659" lvl="1" indent="-377829" algn="l">
              <a:lnSpc>
                <a:spcPts val="5250"/>
              </a:lnSpc>
              <a:buFont typeface="Arial"/>
              <a:buChar char="•"/>
            </a:pPr>
            <a:r>
              <a:rPr lang="en-US" sz="3200" dirty="0">
                <a:solidFill>
                  <a:srgbClr val="4E4E4E"/>
                </a:solidFill>
                <a:latin typeface="IBM Plex Sans"/>
                <a:ea typeface="IBM Plex Sans"/>
                <a:cs typeface="IBM Plex Sans"/>
                <a:sym typeface="IBM Plex Sans"/>
              </a:rPr>
              <a:t>ระบบลงชื่อเข้าใช้ของแต่ละบุคคล</a:t>
            </a:r>
          </a:p>
          <a:p>
            <a:pPr marL="755659" lvl="1" indent="-377829" algn="l">
              <a:lnSpc>
                <a:spcPts val="5250"/>
              </a:lnSpc>
              <a:buFont typeface="Arial"/>
              <a:buChar char="•"/>
            </a:pPr>
            <a:r>
              <a:rPr lang="en-US" sz="3200" dirty="0">
                <a:solidFill>
                  <a:srgbClr val="4E4E4E"/>
                </a:solidFill>
                <a:latin typeface="IBM Plex Sans"/>
                <a:ea typeface="IBM Plex Sans"/>
                <a:cs typeface="IBM Plex Sans"/>
                <a:sym typeface="IBM Plex Sans"/>
              </a:rPr>
              <a:t>สามารถลงชื่อเข้าใช้ผ่าน google ได้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280713" y="-810990"/>
            <a:ext cx="29899823" cy="11097990"/>
            <a:chOff x="0" y="0"/>
            <a:chExt cx="2798373" cy="10386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98373" cy="1038679"/>
            </a:xfrm>
            <a:custGeom>
              <a:avLst/>
              <a:gdLst/>
              <a:ahLst/>
              <a:cxnLst/>
              <a:rect l="l" t="t" r="r" b="b"/>
              <a:pathLst>
                <a:path w="2798373" h="1038679">
                  <a:moveTo>
                    <a:pt x="1399186" y="0"/>
                  </a:moveTo>
                  <a:lnTo>
                    <a:pt x="2798373" y="1038679"/>
                  </a:lnTo>
                  <a:lnTo>
                    <a:pt x="0" y="1038679"/>
                  </a:lnTo>
                  <a:lnTo>
                    <a:pt x="1399186" y="0"/>
                  </a:lnTo>
                  <a:close/>
                </a:path>
              </a:pathLst>
            </a:custGeom>
            <a:solidFill>
              <a:srgbClr val="D7CF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37246" y="444144"/>
              <a:ext cx="1923881" cy="520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5" name="Freeform 5"/>
          <p:cNvSpPr/>
          <p:nvPr/>
        </p:nvSpPr>
        <p:spPr>
          <a:xfrm>
            <a:off x="6727785" y="2431198"/>
            <a:ext cx="11253926" cy="5424604"/>
          </a:xfrm>
          <a:custGeom>
            <a:avLst/>
            <a:gdLst/>
            <a:ahLst/>
            <a:cxnLst/>
            <a:rect l="l" t="t" r="r" b="b"/>
            <a:pathLst>
              <a:path w="11253926" h="5424604">
                <a:moveTo>
                  <a:pt x="0" y="0"/>
                </a:moveTo>
                <a:lnTo>
                  <a:pt x="11253926" y="0"/>
                </a:lnTo>
                <a:lnTo>
                  <a:pt x="11253926" y="5424604"/>
                </a:lnTo>
                <a:lnTo>
                  <a:pt x="0" y="54246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420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TextBox 6"/>
          <p:cNvSpPr txBox="1"/>
          <p:nvPr/>
        </p:nvSpPr>
        <p:spPr>
          <a:xfrm>
            <a:off x="736069" y="409575"/>
            <a:ext cx="3977815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8000" b="1" dirty="0">
                <a:solidFill>
                  <a:srgbClr val="CB6CE6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Feature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0600" y="2571481"/>
            <a:ext cx="5067300" cy="5144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3499" b="1" dirty="0">
                <a:solidFill>
                  <a:srgbClr val="4E4E4E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Homepage</a:t>
            </a:r>
          </a:p>
          <a:p>
            <a:pPr marL="755649" lvl="1" indent="-377824" algn="l">
              <a:lnSpc>
                <a:spcPts val="5249"/>
              </a:lnSpc>
              <a:buFont typeface="Arial"/>
              <a:buChar char="•"/>
            </a:pPr>
            <a:r>
              <a:rPr lang="en-US" sz="3200" dirty="0">
                <a:solidFill>
                  <a:srgbClr val="4E4E4E"/>
                </a:solidFill>
                <a:latin typeface="IBM Plex Sans"/>
                <a:ea typeface="IBM Plex Sans"/>
                <a:cs typeface="IBM Plex Sans"/>
                <a:sym typeface="IBM Plex Sans"/>
              </a:rPr>
              <a:t>แสดง Income, Expense, Total</a:t>
            </a:r>
          </a:p>
          <a:p>
            <a:pPr marL="755649" lvl="1" indent="-377824" algn="l">
              <a:lnSpc>
                <a:spcPts val="5249"/>
              </a:lnSpc>
              <a:buFont typeface="Arial"/>
              <a:buChar char="•"/>
            </a:pPr>
            <a:r>
              <a:rPr lang="en-US" sz="3200" dirty="0">
                <a:solidFill>
                  <a:srgbClr val="4E4E4E"/>
                </a:solidFill>
                <a:latin typeface="IBM Plex Sans"/>
                <a:ea typeface="IBM Plex Sans"/>
                <a:cs typeface="IBM Plex Sans"/>
                <a:sym typeface="IBM Plex Sans"/>
              </a:rPr>
              <a:t>Bar Chart สรุปรายจ่าย</a:t>
            </a:r>
          </a:p>
          <a:p>
            <a:pPr marL="755649" lvl="1" indent="-377824" algn="l">
              <a:lnSpc>
                <a:spcPts val="5249"/>
              </a:lnSpc>
              <a:buFont typeface="Arial"/>
              <a:buChar char="•"/>
            </a:pPr>
            <a:r>
              <a:rPr lang="en-US" sz="3200" dirty="0">
                <a:solidFill>
                  <a:srgbClr val="4E4E4E"/>
                </a:solidFill>
                <a:latin typeface="IBM Plex Sans"/>
                <a:ea typeface="IBM Plex Sans"/>
                <a:cs typeface="IBM Plex Sans"/>
                <a:sym typeface="IBM Plex Sans"/>
              </a:rPr>
              <a:t>Calendar แสดงรายการรายรับ-รายจ่ายแต่ละวัน</a:t>
            </a:r>
          </a:p>
          <a:p>
            <a:pPr marL="755649" lvl="1" indent="-377824" algn="l">
              <a:lnSpc>
                <a:spcPts val="5249"/>
              </a:lnSpc>
              <a:buFont typeface="Arial"/>
              <a:buChar char="•"/>
            </a:pPr>
            <a:r>
              <a:rPr lang="th-TH" sz="3200" dirty="0">
                <a:solidFill>
                  <a:srgbClr val="4E4E4E"/>
                </a:solidFill>
                <a:latin typeface="IBM Plex Sans"/>
                <a:ea typeface="IBM Plex Sans"/>
                <a:cs typeface="IBM Plex Sans"/>
                <a:sym typeface="IBM Plex Sans"/>
              </a:rPr>
              <a:t>ปุ่มทางลัดสำหรับเพิ่มรายรับ/รายจ่าย</a:t>
            </a:r>
            <a:endParaRPr lang="en-US" sz="3200" dirty="0">
              <a:solidFill>
                <a:srgbClr val="4E4E4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280713" y="-810990"/>
            <a:ext cx="29899823" cy="11097990"/>
            <a:chOff x="0" y="0"/>
            <a:chExt cx="2798373" cy="10386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98373" cy="1038679"/>
            </a:xfrm>
            <a:custGeom>
              <a:avLst/>
              <a:gdLst/>
              <a:ahLst/>
              <a:cxnLst/>
              <a:rect l="l" t="t" r="r" b="b"/>
              <a:pathLst>
                <a:path w="2798373" h="1038679">
                  <a:moveTo>
                    <a:pt x="1399186" y="0"/>
                  </a:moveTo>
                  <a:lnTo>
                    <a:pt x="2798373" y="1038679"/>
                  </a:lnTo>
                  <a:lnTo>
                    <a:pt x="0" y="1038679"/>
                  </a:lnTo>
                  <a:lnTo>
                    <a:pt x="1399186" y="0"/>
                  </a:lnTo>
                  <a:close/>
                </a:path>
              </a:pathLst>
            </a:custGeom>
            <a:solidFill>
              <a:srgbClr val="D7CF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37246" y="444144"/>
              <a:ext cx="1923881" cy="520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5" name="Freeform 5"/>
          <p:cNvSpPr/>
          <p:nvPr/>
        </p:nvSpPr>
        <p:spPr>
          <a:xfrm>
            <a:off x="9270221" y="1733133"/>
            <a:ext cx="8230147" cy="6820735"/>
          </a:xfrm>
          <a:custGeom>
            <a:avLst/>
            <a:gdLst/>
            <a:ahLst/>
            <a:cxnLst/>
            <a:rect l="l" t="t" r="r" b="b"/>
            <a:pathLst>
              <a:path w="8230147" h="6820735">
                <a:moveTo>
                  <a:pt x="0" y="0"/>
                </a:moveTo>
                <a:lnTo>
                  <a:pt x="8230147" y="0"/>
                </a:lnTo>
                <a:lnTo>
                  <a:pt x="8230147" y="6820734"/>
                </a:lnTo>
                <a:lnTo>
                  <a:pt x="0" y="68207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TextBox 6"/>
          <p:cNvSpPr txBox="1"/>
          <p:nvPr/>
        </p:nvSpPr>
        <p:spPr>
          <a:xfrm>
            <a:off x="736069" y="616111"/>
            <a:ext cx="3977815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8000" b="1" dirty="0">
                <a:solidFill>
                  <a:srgbClr val="CB6CE6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Feature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0600" y="2499411"/>
            <a:ext cx="10374014" cy="4477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3499" b="1" dirty="0">
                <a:solidFill>
                  <a:srgbClr val="4E4E4E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Transaction</a:t>
            </a:r>
          </a:p>
          <a:p>
            <a:pPr marL="755649" lvl="1" indent="-377824" algn="l">
              <a:lnSpc>
                <a:spcPts val="5249"/>
              </a:lnSpc>
              <a:buFont typeface="Arial"/>
              <a:buChar char="•"/>
            </a:pPr>
            <a:r>
              <a:rPr lang="en-US" sz="3200" dirty="0">
                <a:solidFill>
                  <a:srgbClr val="4E4E4E"/>
                </a:solidFill>
                <a:latin typeface="IBM Plex Sans"/>
                <a:ea typeface="IBM Plex Sans"/>
                <a:cs typeface="IBM Plex Sans"/>
                <a:sym typeface="IBM Plex Sans"/>
              </a:rPr>
              <a:t>ดูรายการทั้งหมดที่บันทึกไว้</a:t>
            </a:r>
          </a:p>
          <a:p>
            <a:pPr marL="755649" lvl="1" indent="-377824" algn="l">
              <a:lnSpc>
                <a:spcPts val="5249"/>
              </a:lnSpc>
              <a:buFont typeface="Arial"/>
              <a:buChar char="•"/>
            </a:pPr>
            <a:r>
              <a:rPr lang="en-US" sz="3200" dirty="0">
                <a:solidFill>
                  <a:srgbClr val="4E4E4E"/>
                </a:solidFill>
                <a:latin typeface="IBM Plex Sans"/>
                <a:ea typeface="IBM Plex Sans"/>
                <a:cs typeface="IBM Plex Sans"/>
                <a:sym typeface="IBM Plex Sans"/>
              </a:rPr>
              <a:t>แสดงรายการ Income และ Expense</a:t>
            </a:r>
          </a:p>
          <a:p>
            <a:pPr marL="755649" lvl="1" indent="-377824" algn="l">
              <a:lnSpc>
                <a:spcPts val="5249"/>
              </a:lnSpc>
              <a:buFont typeface="Arial"/>
              <a:buChar char="•"/>
            </a:pPr>
            <a:r>
              <a:rPr lang="en-US" sz="3200" dirty="0">
                <a:solidFill>
                  <a:srgbClr val="4E4E4E"/>
                </a:solidFill>
                <a:latin typeface="IBM Plex Sans"/>
                <a:ea typeface="IBM Plex Sans"/>
                <a:cs typeface="IBM Plex Sans"/>
                <a:sym typeface="IBM Plex Sans"/>
              </a:rPr>
              <a:t>ค้นหาและกรองรายการตามวัน, เดือน และปี</a:t>
            </a:r>
          </a:p>
          <a:p>
            <a:pPr marL="755649" lvl="1" indent="-377824" algn="l">
              <a:lnSpc>
                <a:spcPts val="5249"/>
              </a:lnSpc>
              <a:buFont typeface="Arial"/>
              <a:buChar char="•"/>
            </a:pPr>
            <a:r>
              <a:rPr lang="en-US" sz="3200" dirty="0">
                <a:solidFill>
                  <a:srgbClr val="4E4E4E"/>
                </a:solidFill>
                <a:latin typeface="IBM Plex Sans"/>
                <a:ea typeface="IBM Plex Sans"/>
                <a:cs typeface="IBM Plex Sans"/>
                <a:sym typeface="IBM Plex Sans"/>
              </a:rPr>
              <a:t>แก้ไขหรือลบรายการ</a:t>
            </a:r>
          </a:p>
          <a:p>
            <a:pPr marL="755649" lvl="1" indent="-377824" algn="l">
              <a:lnSpc>
                <a:spcPts val="5249"/>
              </a:lnSpc>
              <a:buFont typeface="Arial"/>
              <a:buChar char="•"/>
            </a:pPr>
            <a:r>
              <a:rPr lang="en-US" sz="3200" dirty="0">
                <a:solidFill>
                  <a:srgbClr val="4E4E4E"/>
                </a:solidFill>
                <a:latin typeface="IBM Plex Sans"/>
                <a:ea typeface="IBM Plex Sans"/>
                <a:cs typeface="IBM Plex Sans"/>
                <a:sym typeface="IBM Plex Sans"/>
              </a:rPr>
              <a:t>มีปุ่ม “บวก” เป็นทางลัดเพื่อเพิ่มรายรับ</a:t>
            </a:r>
          </a:p>
          <a:p>
            <a:pPr marL="755649" lvl="1" indent="-377824" algn="l">
              <a:lnSpc>
                <a:spcPts val="5249"/>
              </a:lnSpc>
              <a:buFont typeface="Arial"/>
              <a:buChar char="•"/>
            </a:pPr>
            <a:r>
              <a:rPr lang="en-US" sz="3200" dirty="0">
                <a:solidFill>
                  <a:srgbClr val="4E4E4E"/>
                </a:solidFill>
                <a:latin typeface="IBM Plex Sans"/>
                <a:ea typeface="IBM Plex Sans"/>
                <a:cs typeface="IBM Plex Sans"/>
                <a:sym typeface="IBM Plex Sans"/>
              </a:rPr>
              <a:t>มีปุ่ม “ลบ” เป็นทางลัดเพื่อเพิ่มรายจ่าย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916829" y="0"/>
            <a:ext cx="10628346" cy="10287000"/>
          </a:xfrm>
          <a:prstGeom prst="rect">
            <a:avLst/>
          </a:prstGeom>
          <a:solidFill>
            <a:srgbClr val="D7CFFF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>
            <a:off x="9230201" y="5249204"/>
            <a:ext cx="8001603" cy="4500902"/>
          </a:xfrm>
          <a:custGeom>
            <a:avLst/>
            <a:gdLst/>
            <a:ahLst/>
            <a:cxnLst/>
            <a:rect l="l" t="t" r="r" b="b"/>
            <a:pathLst>
              <a:path w="8001603" h="4500902">
                <a:moveTo>
                  <a:pt x="0" y="0"/>
                </a:moveTo>
                <a:lnTo>
                  <a:pt x="8001602" y="0"/>
                </a:lnTo>
                <a:lnTo>
                  <a:pt x="8001602" y="4500902"/>
                </a:lnTo>
                <a:lnTo>
                  <a:pt x="0" y="45009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Freeform 4"/>
          <p:cNvSpPr/>
          <p:nvPr/>
        </p:nvSpPr>
        <p:spPr>
          <a:xfrm>
            <a:off x="9230201" y="536894"/>
            <a:ext cx="8001603" cy="4500902"/>
          </a:xfrm>
          <a:custGeom>
            <a:avLst/>
            <a:gdLst/>
            <a:ahLst/>
            <a:cxnLst/>
            <a:rect l="l" t="t" r="r" b="b"/>
            <a:pathLst>
              <a:path w="8001603" h="4500902">
                <a:moveTo>
                  <a:pt x="0" y="0"/>
                </a:moveTo>
                <a:lnTo>
                  <a:pt x="8001602" y="0"/>
                </a:lnTo>
                <a:lnTo>
                  <a:pt x="8001602" y="4500902"/>
                </a:lnTo>
                <a:lnTo>
                  <a:pt x="0" y="45009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TextBox 5"/>
          <p:cNvSpPr txBox="1"/>
          <p:nvPr/>
        </p:nvSpPr>
        <p:spPr>
          <a:xfrm>
            <a:off x="736069" y="409575"/>
            <a:ext cx="3977815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8000" b="1" dirty="0">
                <a:solidFill>
                  <a:srgbClr val="CB6CE6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Feature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105715"/>
            <a:ext cx="6243052" cy="3143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3499" b="1" dirty="0">
                <a:solidFill>
                  <a:srgbClr val="4E4E4E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Income</a:t>
            </a:r>
          </a:p>
          <a:p>
            <a:pPr marL="755649" lvl="1" indent="-377824" algn="l">
              <a:lnSpc>
                <a:spcPts val="5249"/>
              </a:lnSpc>
              <a:buFont typeface="Arial"/>
              <a:buChar char="•"/>
            </a:pPr>
            <a:r>
              <a:rPr lang="en-US" sz="3200" dirty="0">
                <a:solidFill>
                  <a:srgbClr val="4E4E4E"/>
                </a:solidFill>
                <a:latin typeface="IBM Plex Sans"/>
                <a:ea typeface="IBM Plex Sans"/>
                <a:cs typeface="IBM Plex Sans"/>
                <a:sym typeface="IBM Plex Sans"/>
              </a:rPr>
              <a:t>ใส่จำนวนเงิน</a:t>
            </a:r>
          </a:p>
          <a:p>
            <a:pPr marL="755649" lvl="1" indent="-377824" algn="l">
              <a:lnSpc>
                <a:spcPts val="5249"/>
              </a:lnSpc>
              <a:buFont typeface="Arial"/>
              <a:buChar char="•"/>
            </a:pPr>
            <a:r>
              <a:rPr lang="en-US" sz="3200" dirty="0">
                <a:solidFill>
                  <a:srgbClr val="4E4E4E"/>
                </a:solidFill>
                <a:latin typeface="IBM Plex Sans"/>
                <a:ea typeface="IBM Plex Sans"/>
                <a:cs typeface="IBM Plex Sans"/>
                <a:sym typeface="IBM Plex Sans"/>
              </a:rPr>
              <a:t>เลือกเวลา</a:t>
            </a:r>
          </a:p>
          <a:p>
            <a:pPr marL="755649" lvl="1" indent="-377824" algn="l">
              <a:lnSpc>
                <a:spcPts val="5249"/>
              </a:lnSpc>
              <a:buFont typeface="Arial"/>
              <a:buChar char="•"/>
            </a:pPr>
            <a:r>
              <a:rPr lang="en-US" sz="3200" dirty="0">
                <a:solidFill>
                  <a:srgbClr val="4E4E4E"/>
                </a:solidFill>
                <a:latin typeface="IBM Plex Sans"/>
                <a:ea typeface="IBM Plex Sans"/>
                <a:cs typeface="IBM Plex Sans"/>
                <a:sym typeface="IBM Plex Sans"/>
              </a:rPr>
              <a:t>เลือกหมวดหมู่</a:t>
            </a:r>
          </a:p>
          <a:p>
            <a:pPr marL="755649" lvl="1" indent="-377824" algn="l">
              <a:lnSpc>
                <a:spcPts val="5249"/>
              </a:lnSpc>
              <a:buFont typeface="Arial"/>
              <a:buChar char="•"/>
            </a:pPr>
            <a:r>
              <a:rPr lang="en-US" sz="3200" dirty="0">
                <a:solidFill>
                  <a:srgbClr val="4E4E4E"/>
                </a:solidFill>
                <a:latin typeface="IBM Plex Sans"/>
                <a:ea typeface="IBM Plex Sans"/>
                <a:cs typeface="IBM Plex Sans"/>
                <a:sym typeface="IBM Plex Sans"/>
              </a:rPr>
              <a:t>ใส่คำอธิบายเพิ่มเติม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6261335"/>
            <a:ext cx="6243052" cy="2476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3499" b="1" dirty="0">
                <a:solidFill>
                  <a:srgbClr val="4E4E4E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Expense</a:t>
            </a:r>
          </a:p>
          <a:p>
            <a:pPr marL="755649" lvl="1" indent="-377824" algn="l">
              <a:lnSpc>
                <a:spcPts val="5249"/>
              </a:lnSpc>
              <a:buFont typeface="Arial"/>
              <a:buChar char="•"/>
            </a:pPr>
            <a:r>
              <a:rPr lang="en-US" sz="3200" dirty="0">
                <a:solidFill>
                  <a:srgbClr val="4E4E4E"/>
                </a:solidFill>
                <a:latin typeface="IBM Plex Sans"/>
                <a:ea typeface="IBM Plex Sans"/>
                <a:cs typeface="IBM Plex Sans"/>
                <a:sym typeface="IBM Plex Sans"/>
              </a:rPr>
              <a:t>กรอกรายละเอียดเช่นเดียวกับรายรับ</a:t>
            </a:r>
          </a:p>
          <a:p>
            <a:pPr marL="755649" lvl="1" indent="-377824" algn="l">
              <a:lnSpc>
                <a:spcPts val="5249"/>
              </a:lnSpc>
              <a:buFont typeface="Arial"/>
              <a:buChar char="•"/>
            </a:pPr>
            <a:r>
              <a:rPr lang="en-US" sz="3200" dirty="0">
                <a:solidFill>
                  <a:srgbClr val="4E4E4E"/>
                </a:solidFill>
                <a:latin typeface="IBM Plex Sans"/>
                <a:ea typeface="IBM Plex Sans"/>
                <a:cs typeface="IBM Plex Sans"/>
                <a:sym typeface="IBM Plex Sans"/>
              </a:rPr>
              <a:t>แจ้งเตือนถ้าใช้จ่ายเกินงบประมาณในหมวดนั้นๆ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280713" y="-810990"/>
            <a:ext cx="29899823" cy="11097990"/>
            <a:chOff x="0" y="0"/>
            <a:chExt cx="2798373" cy="10386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98373" cy="1038679"/>
            </a:xfrm>
            <a:custGeom>
              <a:avLst/>
              <a:gdLst/>
              <a:ahLst/>
              <a:cxnLst/>
              <a:rect l="l" t="t" r="r" b="b"/>
              <a:pathLst>
                <a:path w="2798373" h="1038679">
                  <a:moveTo>
                    <a:pt x="1399186" y="0"/>
                  </a:moveTo>
                  <a:lnTo>
                    <a:pt x="2798373" y="1038679"/>
                  </a:lnTo>
                  <a:lnTo>
                    <a:pt x="0" y="1038679"/>
                  </a:lnTo>
                  <a:lnTo>
                    <a:pt x="1399186" y="0"/>
                  </a:lnTo>
                  <a:close/>
                </a:path>
              </a:pathLst>
            </a:custGeom>
            <a:solidFill>
              <a:srgbClr val="D7CF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37246" y="444144"/>
              <a:ext cx="1923881" cy="520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5" name="Freeform 5"/>
          <p:cNvSpPr/>
          <p:nvPr/>
        </p:nvSpPr>
        <p:spPr>
          <a:xfrm>
            <a:off x="14142163" y="1434884"/>
            <a:ext cx="3885614" cy="2640708"/>
          </a:xfrm>
          <a:custGeom>
            <a:avLst/>
            <a:gdLst/>
            <a:ahLst/>
            <a:cxnLst/>
            <a:rect l="l" t="t" r="r" b="b"/>
            <a:pathLst>
              <a:path w="3885614" h="2640708">
                <a:moveTo>
                  <a:pt x="0" y="0"/>
                </a:moveTo>
                <a:lnTo>
                  <a:pt x="3885614" y="0"/>
                </a:lnTo>
                <a:lnTo>
                  <a:pt x="3885614" y="2640708"/>
                </a:lnTo>
                <a:lnTo>
                  <a:pt x="0" y="26407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Freeform 6"/>
          <p:cNvSpPr/>
          <p:nvPr/>
        </p:nvSpPr>
        <p:spPr>
          <a:xfrm>
            <a:off x="14142163" y="6297118"/>
            <a:ext cx="3885614" cy="2763800"/>
          </a:xfrm>
          <a:custGeom>
            <a:avLst/>
            <a:gdLst/>
            <a:ahLst/>
            <a:cxnLst/>
            <a:rect l="l" t="t" r="r" b="b"/>
            <a:pathLst>
              <a:path w="3885614" h="2763800">
                <a:moveTo>
                  <a:pt x="0" y="0"/>
                </a:moveTo>
                <a:lnTo>
                  <a:pt x="3885614" y="0"/>
                </a:lnTo>
                <a:lnTo>
                  <a:pt x="3885614" y="2763799"/>
                </a:lnTo>
                <a:lnTo>
                  <a:pt x="0" y="27637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Freeform 7"/>
          <p:cNvSpPr/>
          <p:nvPr/>
        </p:nvSpPr>
        <p:spPr>
          <a:xfrm>
            <a:off x="6325335" y="1332637"/>
            <a:ext cx="7554936" cy="3673588"/>
          </a:xfrm>
          <a:custGeom>
            <a:avLst/>
            <a:gdLst/>
            <a:ahLst/>
            <a:cxnLst/>
            <a:rect l="l" t="t" r="r" b="b"/>
            <a:pathLst>
              <a:path w="7554936" h="3673588">
                <a:moveTo>
                  <a:pt x="0" y="0"/>
                </a:moveTo>
                <a:lnTo>
                  <a:pt x="7554936" y="0"/>
                </a:lnTo>
                <a:lnTo>
                  <a:pt x="7554936" y="3673588"/>
                </a:lnTo>
                <a:lnTo>
                  <a:pt x="0" y="36735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Freeform 8"/>
          <p:cNvSpPr/>
          <p:nvPr/>
        </p:nvSpPr>
        <p:spPr>
          <a:xfrm>
            <a:off x="6325335" y="5776201"/>
            <a:ext cx="7554936" cy="3805632"/>
          </a:xfrm>
          <a:custGeom>
            <a:avLst/>
            <a:gdLst/>
            <a:ahLst/>
            <a:cxnLst/>
            <a:rect l="l" t="t" r="r" b="b"/>
            <a:pathLst>
              <a:path w="7554936" h="3805632">
                <a:moveTo>
                  <a:pt x="0" y="0"/>
                </a:moveTo>
                <a:lnTo>
                  <a:pt x="7554936" y="0"/>
                </a:lnTo>
                <a:lnTo>
                  <a:pt x="7554936" y="3805632"/>
                </a:lnTo>
                <a:lnTo>
                  <a:pt x="0" y="38056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521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TextBox 9"/>
          <p:cNvSpPr txBox="1"/>
          <p:nvPr/>
        </p:nvSpPr>
        <p:spPr>
          <a:xfrm>
            <a:off x="736069" y="409575"/>
            <a:ext cx="3977815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8000" b="1" dirty="0">
                <a:solidFill>
                  <a:srgbClr val="CB6CE6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Feature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64325" y="2095500"/>
            <a:ext cx="5117171" cy="2476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3499" b="1" dirty="0">
                <a:solidFill>
                  <a:srgbClr val="4E4E4E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Budget Page</a:t>
            </a:r>
          </a:p>
          <a:p>
            <a:pPr marL="755649" lvl="1" indent="-377824" algn="l">
              <a:lnSpc>
                <a:spcPts val="5249"/>
              </a:lnSpc>
              <a:buFont typeface="Arial"/>
              <a:buChar char="•"/>
            </a:pPr>
            <a:r>
              <a:rPr lang="en-US" sz="3200" dirty="0">
                <a:solidFill>
                  <a:srgbClr val="4E4E4E"/>
                </a:solidFill>
                <a:latin typeface="IBM Plex Sans"/>
                <a:ea typeface="IBM Plex Sans"/>
                <a:cs typeface="IBM Plex Sans"/>
                <a:sym typeface="IBM Plex Sans"/>
              </a:rPr>
              <a:t>แสดง Progress Bar บอกสถานะการใช้เงินในหมวดหมู่ที่มีการกำหนดงบประมาณ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4325" y="6440697"/>
            <a:ext cx="3721302" cy="2476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3499" b="1" dirty="0">
                <a:solidFill>
                  <a:srgbClr val="4E4E4E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Calendar Page</a:t>
            </a:r>
          </a:p>
          <a:p>
            <a:pPr marL="755649" lvl="1" indent="-377824" algn="l">
              <a:lnSpc>
                <a:spcPts val="5249"/>
              </a:lnSpc>
              <a:buFont typeface="Arial"/>
              <a:buChar char="•"/>
            </a:pPr>
            <a:r>
              <a:rPr lang="en-US" sz="3200" dirty="0">
                <a:solidFill>
                  <a:srgbClr val="4E4E4E"/>
                </a:solidFill>
                <a:latin typeface="IBM Plex Sans"/>
                <a:ea typeface="IBM Plex Sans"/>
                <a:cs typeface="IBM Plex Sans"/>
                <a:sym typeface="IBM Plex Sans"/>
              </a:rPr>
              <a:t>แสดงรายการรายรับ-รายจ่ายในแต่ละวัน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916829" y="0"/>
            <a:ext cx="10628346" cy="10287000"/>
          </a:xfrm>
          <a:prstGeom prst="rect">
            <a:avLst/>
          </a:prstGeom>
          <a:solidFill>
            <a:srgbClr val="D7CFFF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>
            <a:off x="9168839" y="659486"/>
            <a:ext cx="8115300" cy="4199668"/>
          </a:xfrm>
          <a:custGeom>
            <a:avLst/>
            <a:gdLst/>
            <a:ahLst/>
            <a:cxnLst/>
            <a:rect l="l" t="t" r="r" b="b"/>
            <a:pathLst>
              <a:path w="8115300" h="4199668">
                <a:moveTo>
                  <a:pt x="0" y="0"/>
                </a:moveTo>
                <a:lnTo>
                  <a:pt x="8115300" y="0"/>
                </a:lnTo>
                <a:lnTo>
                  <a:pt x="8115300" y="4199668"/>
                </a:lnTo>
                <a:lnTo>
                  <a:pt x="0" y="41996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Freeform 4"/>
          <p:cNvSpPr/>
          <p:nvPr/>
        </p:nvSpPr>
        <p:spPr>
          <a:xfrm>
            <a:off x="9168839" y="5408498"/>
            <a:ext cx="8160464" cy="4243441"/>
          </a:xfrm>
          <a:custGeom>
            <a:avLst/>
            <a:gdLst/>
            <a:ahLst/>
            <a:cxnLst/>
            <a:rect l="l" t="t" r="r" b="b"/>
            <a:pathLst>
              <a:path w="8160464" h="4243441">
                <a:moveTo>
                  <a:pt x="0" y="0"/>
                </a:moveTo>
                <a:lnTo>
                  <a:pt x="8160464" y="0"/>
                </a:lnTo>
                <a:lnTo>
                  <a:pt x="8160464" y="4243441"/>
                </a:lnTo>
                <a:lnTo>
                  <a:pt x="0" y="42434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TextBox 5"/>
          <p:cNvSpPr txBox="1"/>
          <p:nvPr/>
        </p:nvSpPr>
        <p:spPr>
          <a:xfrm>
            <a:off x="736069" y="409575"/>
            <a:ext cx="3977815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8000" b="1" dirty="0">
                <a:solidFill>
                  <a:srgbClr val="CB6CE6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Feature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56239" y="2614731"/>
            <a:ext cx="5980927" cy="5057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3499" b="1" dirty="0">
                <a:solidFill>
                  <a:srgbClr val="4E4E4E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Charts Page</a:t>
            </a:r>
          </a:p>
          <a:p>
            <a:pPr marL="755649" lvl="1" indent="-377824" algn="l">
              <a:lnSpc>
                <a:spcPts val="5249"/>
              </a:lnSpc>
              <a:buFont typeface="Arial"/>
              <a:buChar char="•"/>
            </a:pPr>
            <a:r>
              <a:rPr lang="en-US" sz="3200" dirty="0">
                <a:solidFill>
                  <a:srgbClr val="4E4E4E"/>
                </a:solidFill>
                <a:latin typeface="IBM Plex Sans"/>
                <a:ea typeface="IBM Plex Sans"/>
                <a:cs typeface="IBM Plex Sans"/>
                <a:sym typeface="IBM Plex Sans"/>
              </a:rPr>
              <a:t>Chart สรุปรายรับ/รายจ่าย (รายวัน, รายสัปดาห์, รายเดือน, รายปี)</a:t>
            </a:r>
          </a:p>
          <a:p>
            <a:pPr marL="755649" lvl="1" indent="-377824" algn="l">
              <a:lnSpc>
                <a:spcPts val="5249"/>
              </a:lnSpc>
              <a:buFont typeface="Arial"/>
              <a:buChar char="•"/>
            </a:pPr>
            <a:r>
              <a:rPr lang="en-US" sz="3200" dirty="0">
                <a:solidFill>
                  <a:srgbClr val="4E4E4E"/>
                </a:solidFill>
                <a:latin typeface="IBM Plex Sans"/>
                <a:ea typeface="IBM Plex Sans"/>
                <a:cs typeface="IBM Plex Sans"/>
                <a:sym typeface="IBM Plex Sans"/>
              </a:rPr>
              <a:t>สามารถแบ่งเป็นสรุปรายรับหรือรายจ่ายแยกกันได้</a:t>
            </a:r>
          </a:p>
          <a:p>
            <a:pPr marL="755649" lvl="1" indent="-377824" algn="l">
              <a:lnSpc>
                <a:spcPts val="5249"/>
              </a:lnSpc>
              <a:buFont typeface="Arial"/>
              <a:buChar char="•"/>
            </a:pPr>
            <a:r>
              <a:rPr lang="en-US" sz="3200" dirty="0">
                <a:solidFill>
                  <a:srgbClr val="4E4E4E"/>
                </a:solidFill>
                <a:latin typeface="IBM Plex Sans"/>
                <a:ea typeface="IBM Plex Sans"/>
                <a:cs typeface="IBM Plex Sans"/>
                <a:sym typeface="IBM Plex Sans"/>
              </a:rPr>
              <a:t>เป็นกราฟแท่งและแผนภูมิวงกลม</a:t>
            </a:r>
          </a:p>
          <a:p>
            <a:pPr algn="l">
              <a:lnSpc>
                <a:spcPts val="4199"/>
              </a:lnSpc>
            </a:pPr>
            <a:endParaRPr lang="en-US" sz="3499" dirty="0">
              <a:solidFill>
                <a:srgbClr val="4E4E4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916829" y="0"/>
            <a:ext cx="10628346" cy="10287000"/>
          </a:xfrm>
          <a:prstGeom prst="rect">
            <a:avLst/>
          </a:prstGeom>
          <a:solidFill>
            <a:srgbClr val="D7CFFF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>
            <a:off x="8312640" y="5698174"/>
            <a:ext cx="9836725" cy="4289066"/>
          </a:xfrm>
          <a:custGeom>
            <a:avLst/>
            <a:gdLst/>
            <a:ahLst/>
            <a:cxnLst/>
            <a:rect l="l" t="t" r="r" b="b"/>
            <a:pathLst>
              <a:path w="9836725" h="4289066">
                <a:moveTo>
                  <a:pt x="0" y="0"/>
                </a:moveTo>
                <a:lnTo>
                  <a:pt x="9836724" y="0"/>
                </a:lnTo>
                <a:lnTo>
                  <a:pt x="9836724" y="4289066"/>
                </a:lnTo>
                <a:lnTo>
                  <a:pt x="0" y="42890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4132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Freeform 4"/>
          <p:cNvSpPr/>
          <p:nvPr/>
        </p:nvSpPr>
        <p:spPr>
          <a:xfrm>
            <a:off x="8312640" y="151024"/>
            <a:ext cx="4406249" cy="5358744"/>
          </a:xfrm>
          <a:custGeom>
            <a:avLst/>
            <a:gdLst/>
            <a:ahLst/>
            <a:cxnLst/>
            <a:rect l="l" t="t" r="r" b="b"/>
            <a:pathLst>
              <a:path w="4406249" h="5358744">
                <a:moveTo>
                  <a:pt x="0" y="0"/>
                </a:moveTo>
                <a:lnTo>
                  <a:pt x="4406249" y="0"/>
                </a:lnTo>
                <a:lnTo>
                  <a:pt x="4406249" y="5358744"/>
                </a:lnTo>
                <a:lnTo>
                  <a:pt x="0" y="53587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65" r="-2065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Freeform 5"/>
          <p:cNvSpPr/>
          <p:nvPr/>
        </p:nvSpPr>
        <p:spPr>
          <a:xfrm>
            <a:off x="12941380" y="151024"/>
            <a:ext cx="4994271" cy="5358744"/>
          </a:xfrm>
          <a:custGeom>
            <a:avLst/>
            <a:gdLst/>
            <a:ahLst/>
            <a:cxnLst/>
            <a:rect l="l" t="t" r="r" b="b"/>
            <a:pathLst>
              <a:path w="4994271" h="5358744">
                <a:moveTo>
                  <a:pt x="0" y="0"/>
                </a:moveTo>
                <a:lnTo>
                  <a:pt x="4994271" y="0"/>
                </a:lnTo>
                <a:lnTo>
                  <a:pt x="4994271" y="5358744"/>
                </a:lnTo>
                <a:lnTo>
                  <a:pt x="0" y="53587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746" t="-1328" r="-1328" b="-1746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TextBox 6"/>
          <p:cNvSpPr txBox="1"/>
          <p:nvPr/>
        </p:nvSpPr>
        <p:spPr>
          <a:xfrm>
            <a:off x="736069" y="409575"/>
            <a:ext cx="3977815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8000" b="1" dirty="0">
                <a:solidFill>
                  <a:srgbClr val="CB6CE6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Feature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2819" y="2431092"/>
            <a:ext cx="6374486" cy="1142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3499" b="1" dirty="0">
                <a:solidFill>
                  <a:srgbClr val="4E4E4E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Category Management</a:t>
            </a:r>
          </a:p>
          <a:p>
            <a:pPr marL="755649" lvl="1" indent="-377824" algn="l">
              <a:lnSpc>
                <a:spcPts val="5249"/>
              </a:lnSpc>
              <a:buFont typeface="Arial"/>
              <a:buChar char="•"/>
            </a:pPr>
            <a:r>
              <a:rPr lang="en-US" sz="3200" dirty="0">
                <a:solidFill>
                  <a:srgbClr val="4E4E4E"/>
                </a:solidFill>
                <a:latin typeface="IBM Plex Sans"/>
                <a:ea typeface="IBM Plex Sans"/>
                <a:cs typeface="IBM Plex Sans"/>
                <a:sym typeface="IBM Plex Sans"/>
              </a:rPr>
              <a:t>เพิ่ม/ลบ/แก้ไขหมวดหมู่ได้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2819" y="5677297"/>
            <a:ext cx="6374486" cy="3143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3499" b="1" dirty="0">
                <a:solidFill>
                  <a:srgbClr val="4E4E4E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Create New Category</a:t>
            </a:r>
          </a:p>
          <a:p>
            <a:pPr marL="755649" lvl="1" indent="-377824" algn="l">
              <a:lnSpc>
                <a:spcPts val="5249"/>
              </a:lnSpc>
              <a:buFont typeface="Arial"/>
              <a:buChar char="•"/>
            </a:pPr>
            <a:r>
              <a:rPr lang="en-US" sz="3200" dirty="0">
                <a:solidFill>
                  <a:srgbClr val="4E4E4E"/>
                </a:solidFill>
                <a:latin typeface="IBM Plex Sans"/>
                <a:ea typeface="IBM Plex Sans"/>
                <a:cs typeface="IBM Plex Sans"/>
                <a:sym typeface="IBM Plex Sans"/>
              </a:rPr>
              <a:t>เพิ่มชื่อหมวดหมู่</a:t>
            </a:r>
          </a:p>
          <a:p>
            <a:pPr marL="755649" lvl="1" indent="-377824" algn="l">
              <a:lnSpc>
                <a:spcPts val="5249"/>
              </a:lnSpc>
              <a:buFont typeface="Arial"/>
              <a:buChar char="•"/>
            </a:pPr>
            <a:r>
              <a:rPr lang="en-US" sz="3200" dirty="0">
                <a:solidFill>
                  <a:srgbClr val="4E4E4E"/>
                </a:solidFill>
                <a:latin typeface="IBM Plex Sans"/>
                <a:ea typeface="IBM Plex Sans"/>
                <a:cs typeface="IBM Plex Sans"/>
                <a:sym typeface="IBM Plex Sans"/>
              </a:rPr>
              <a:t>เลือกรายรับ/รายจ่าย</a:t>
            </a:r>
          </a:p>
          <a:p>
            <a:pPr marL="755649" lvl="1" indent="-377824" algn="l">
              <a:lnSpc>
                <a:spcPts val="5249"/>
              </a:lnSpc>
              <a:buFont typeface="Arial"/>
              <a:buChar char="•"/>
            </a:pPr>
            <a:r>
              <a:rPr lang="en-US" sz="3200" dirty="0">
                <a:solidFill>
                  <a:srgbClr val="4E4E4E"/>
                </a:solidFill>
                <a:latin typeface="IBM Plex Sans"/>
                <a:ea typeface="IBM Plex Sans"/>
                <a:cs typeface="IBM Plex Sans"/>
                <a:sym typeface="IBM Plex Sans"/>
              </a:rPr>
              <a:t>เพิ่มคำอธิบายเพิ่มเติมได้</a:t>
            </a:r>
          </a:p>
          <a:p>
            <a:pPr marL="755649" lvl="1" indent="-377824" algn="l">
              <a:lnSpc>
                <a:spcPts val="5249"/>
              </a:lnSpc>
              <a:buFont typeface="Arial"/>
              <a:buChar char="•"/>
            </a:pPr>
            <a:r>
              <a:rPr lang="en-US" sz="3200" dirty="0">
                <a:solidFill>
                  <a:srgbClr val="4E4E4E"/>
                </a:solidFill>
                <a:latin typeface="IBM Plex Sans"/>
                <a:ea typeface="IBM Plex Sans"/>
                <a:cs typeface="IBM Plex Sans"/>
                <a:sym typeface="IBM Plex Sans"/>
              </a:rPr>
              <a:t>เพิ่มไอคอน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280713" y="-810990"/>
            <a:ext cx="29899823" cy="11097990"/>
            <a:chOff x="0" y="0"/>
            <a:chExt cx="2798373" cy="10386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98373" cy="1038679"/>
            </a:xfrm>
            <a:custGeom>
              <a:avLst/>
              <a:gdLst/>
              <a:ahLst/>
              <a:cxnLst/>
              <a:rect l="l" t="t" r="r" b="b"/>
              <a:pathLst>
                <a:path w="2798373" h="1038679">
                  <a:moveTo>
                    <a:pt x="1399186" y="0"/>
                  </a:moveTo>
                  <a:lnTo>
                    <a:pt x="2798373" y="1038679"/>
                  </a:lnTo>
                  <a:lnTo>
                    <a:pt x="0" y="1038679"/>
                  </a:lnTo>
                  <a:lnTo>
                    <a:pt x="1399186" y="0"/>
                  </a:lnTo>
                  <a:close/>
                </a:path>
              </a:pathLst>
            </a:custGeom>
            <a:solidFill>
              <a:srgbClr val="D7CF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37246" y="444144"/>
              <a:ext cx="1923881" cy="520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5" name="Freeform 5"/>
          <p:cNvSpPr/>
          <p:nvPr/>
        </p:nvSpPr>
        <p:spPr>
          <a:xfrm>
            <a:off x="7555224" y="2518205"/>
            <a:ext cx="9704076" cy="4463875"/>
          </a:xfrm>
          <a:custGeom>
            <a:avLst/>
            <a:gdLst/>
            <a:ahLst/>
            <a:cxnLst/>
            <a:rect l="l" t="t" r="r" b="b"/>
            <a:pathLst>
              <a:path w="9704076" h="4463875">
                <a:moveTo>
                  <a:pt x="0" y="0"/>
                </a:moveTo>
                <a:lnTo>
                  <a:pt x="9704076" y="0"/>
                </a:lnTo>
                <a:lnTo>
                  <a:pt x="9704076" y="4463875"/>
                </a:lnTo>
                <a:lnTo>
                  <a:pt x="0" y="44638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TextBox 6"/>
          <p:cNvSpPr txBox="1"/>
          <p:nvPr/>
        </p:nvSpPr>
        <p:spPr>
          <a:xfrm>
            <a:off x="736069" y="409575"/>
            <a:ext cx="3977815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8000" b="1" dirty="0">
                <a:solidFill>
                  <a:srgbClr val="CB6CE6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Feature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8720" y="3833109"/>
            <a:ext cx="5055131" cy="18097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3499" b="1" dirty="0">
                <a:solidFill>
                  <a:srgbClr val="4E4E4E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Profile</a:t>
            </a:r>
          </a:p>
          <a:p>
            <a:pPr marL="755649" lvl="1" indent="-377824" algn="l">
              <a:lnSpc>
                <a:spcPts val="5249"/>
              </a:lnSpc>
              <a:buFont typeface="Arial"/>
              <a:buChar char="•"/>
            </a:pPr>
            <a:r>
              <a:rPr lang="en-US" sz="3200" dirty="0">
                <a:solidFill>
                  <a:srgbClr val="4E4E4E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Profile ในส่วน side bar จะเชื่อมกับรูปโปรไฟล์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916829" y="0"/>
            <a:ext cx="10628346" cy="10287000"/>
          </a:xfrm>
          <a:prstGeom prst="rect">
            <a:avLst/>
          </a:prstGeom>
          <a:solidFill>
            <a:srgbClr val="D7CFFF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>
            <a:off x="9030135" y="1131130"/>
            <a:ext cx="8480715" cy="4770402"/>
          </a:xfrm>
          <a:custGeom>
            <a:avLst/>
            <a:gdLst/>
            <a:ahLst/>
            <a:cxnLst/>
            <a:rect l="l" t="t" r="r" b="b"/>
            <a:pathLst>
              <a:path w="8480715" h="4770402">
                <a:moveTo>
                  <a:pt x="0" y="0"/>
                </a:moveTo>
                <a:lnTo>
                  <a:pt x="8480715" y="0"/>
                </a:lnTo>
                <a:lnTo>
                  <a:pt x="8480715" y="4770403"/>
                </a:lnTo>
                <a:lnTo>
                  <a:pt x="0" y="47704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Freeform 4"/>
          <p:cNvSpPr/>
          <p:nvPr/>
        </p:nvSpPr>
        <p:spPr>
          <a:xfrm>
            <a:off x="8951154" y="6445003"/>
            <a:ext cx="8559696" cy="2710867"/>
          </a:xfrm>
          <a:custGeom>
            <a:avLst/>
            <a:gdLst/>
            <a:ahLst/>
            <a:cxnLst/>
            <a:rect l="l" t="t" r="r" b="b"/>
            <a:pathLst>
              <a:path w="8559696" h="2710867">
                <a:moveTo>
                  <a:pt x="0" y="0"/>
                </a:moveTo>
                <a:lnTo>
                  <a:pt x="8559696" y="0"/>
                </a:lnTo>
                <a:lnTo>
                  <a:pt x="8559696" y="2710867"/>
                </a:lnTo>
                <a:lnTo>
                  <a:pt x="0" y="27108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TextBox 5"/>
          <p:cNvSpPr txBox="1"/>
          <p:nvPr/>
        </p:nvSpPr>
        <p:spPr>
          <a:xfrm>
            <a:off x="736069" y="409575"/>
            <a:ext cx="3977815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8000" b="1" dirty="0">
                <a:solidFill>
                  <a:srgbClr val="CB6CE6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Feature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77150" y="2611435"/>
            <a:ext cx="6942481" cy="1809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3499" b="1" dirty="0">
                <a:solidFill>
                  <a:srgbClr val="4E4E4E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Login สำหรับ admin</a:t>
            </a:r>
          </a:p>
          <a:p>
            <a:pPr marL="755649" lvl="1" indent="-377824" algn="l">
              <a:lnSpc>
                <a:spcPts val="5249"/>
              </a:lnSpc>
              <a:buFont typeface="Arial"/>
              <a:buChar char="•"/>
            </a:pPr>
            <a:r>
              <a:rPr lang="en-US" sz="3200" dirty="0">
                <a:solidFill>
                  <a:srgbClr val="4E4E4E"/>
                </a:solidFill>
                <a:latin typeface="IBM Plex Sans"/>
                <a:ea typeface="IBM Plex Sans"/>
                <a:cs typeface="IBM Plex Sans"/>
                <a:sym typeface="IBM Plex Sans"/>
              </a:rPr>
              <a:t>ใช้ key สำหรับ admin ในการเข้าถึง</a:t>
            </a:r>
          </a:p>
          <a:p>
            <a:pPr marL="755649" lvl="1" indent="-377824" algn="l">
              <a:lnSpc>
                <a:spcPts val="5249"/>
              </a:lnSpc>
              <a:buFont typeface="Arial"/>
              <a:buChar char="•"/>
            </a:pPr>
            <a:r>
              <a:rPr lang="en-US" sz="3200" dirty="0">
                <a:solidFill>
                  <a:srgbClr val="4E4E4E"/>
                </a:solidFill>
                <a:latin typeface="IBM Plex Sans"/>
                <a:ea typeface="IBM Plex Sans"/>
                <a:cs typeface="IBM Plex Sans"/>
                <a:sym typeface="IBM Plex Sans"/>
              </a:rPr>
              <a:t>เชื่อมต่อไปยังหน้าเก็บข้อมูลผู้ใช้งาน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77150" y="6134100"/>
            <a:ext cx="6374486" cy="1809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3499" b="1" dirty="0">
                <a:solidFill>
                  <a:srgbClr val="4E4E4E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Admin landing page</a:t>
            </a:r>
          </a:p>
          <a:p>
            <a:pPr marL="755649" lvl="1" indent="-377824" algn="l">
              <a:lnSpc>
                <a:spcPts val="5249"/>
              </a:lnSpc>
              <a:buFont typeface="Arial"/>
              <a:buChar char="•"/>
            </a:pPr>
            <a:r>
              <a:rPr lang="en-US" sz="3200" dirty="0">
                <a:solidFill>
                  <a:srgbClr val="4E4E4E"/>
                </a:solidFill>
                <a:latin typeface="IBM Plex Sans"/>
                <a:ea typeface="IBM Plex Sans"/>
                <a:cs typeface="IBM Plex Sans"/>
                <a:sym typeface="IBM Plex Sans"/>
              </a:rPr>
              <a:t>แสดงข้อมูลของผู้ใช้งาน (Username, Email)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13784" y="1638300"/>
            <a:ext cx="15260432" cy="8011727"/>
          </a:xfrm>
          <a:custGeom>
            <a:avLst/>
            <a:gdLst/>
            <a:ahLst/>
            <a:cxnLst/>
            <a:rect l="l" t="t" r="r" b="b"/>
            <a:pathLst>
              <a:path w="15260432" h="8011727">
                <a:moveTo>
                  <a:pt x="0" y="0"/>
                </a:moveTo>
                <a:lnTo>
                  <a:pt x="15260432" y="0"/>
                </a:lnTo>
                <a:lnTo>
                  <a:pt x="15260432" y="8011726"/>
                </a:lnTo>
                <a:lnTo>
                  <a:pt x="0" y="80117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7571798" y="398128"/>
            <a:ext cx="3144404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494949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Sitemap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56445" y="1790700"/>
            <a:ext cx="7575107" cy="7367420"/>
          </a:xfrm>
          <a:custGeom>
            <a:avLst/>
            <a:gdLst/>
            <a:ahLst/>
            <a:cxnLst/>
            <a:rect l="l" t="t" r="r" b="b"/>
            <a:pathLst>
              <a:path w="7575107" h="7367420">
                <a:moveTo>
                  <a:pt x="0" y="0"/>
                </a:moveTo>
                <a:lnTo>
                  <a:pt x="7575108" y="0"/>
                </a:lnTo>
                <a:lnTo>
                  <a:pt x="7575108" y="7367420"/>
                </a:lnTo>
                <a:lnTo>
                  <a:pt x="0" y="73674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52" t="-2004" r="-2004" b="-1752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3990207" y="419100"/>
            <a:ext cx="10307584" cy="946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0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494949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Diagram CRUD action (C)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40615" y="1562100"/>
            <a:ext cx="7806770" cy="8014336"/>
          </a:xfrm>
          <a:custGeom>
            <a:avLst/>
            <a:gdLst/>
            <a:ahLst/>
            <a:cxnLst/>
            <a:rect l="l" t="t" r="r" b="b"/>
            <a:pathLst>
              <a:path w="7806770" h="8014336">
                <a:moveTo>
                  <a:pt x="0" y="0"/>
                </a:moveTo>
                <a:lnTo>
                  <a:pt x="7806770" y="0"/>
                </a:lnTo>
                <a:lnTo>
                  <a:pt x="7806770" y="8014336"/>
                </a:lnTo>
                <a:lnTo>
                  <a:pt x="0" y="80143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3990208" y="337882"/>
            <a:ext cx="10307584" cy="946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0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494949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Diagram CRUD action (R)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61026" y="1638300"/>
            <a:ext cx="6965947" cy="7975652"/>
          </a:xfrm>
          <a:custGeom>
            <a:avLst/>
            <a:gdLst/>
            <a:ahLst/>
            <a:cxnLst/>
            <a:rect l="l" t="t" r="r" b="b"/>
            <a:pathLst>
              <a:path w="6965947" h="7975652">
                <a:moveTo>
                  <a:pt x="0" y="0"/>
                </a:moveTo>
                <a:lnTo>
                  <a:pt x="6965946" y="0"/>
                </a:lnTo>
                <a:lnTo>
                  <a:pt x="6965946" y="7975652"/>
                </a:lnTo>
                <a:lnTo>
                  <a:pt x="0" y="79756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3990208" y="419100"/>
            <a:ext cx="10307584" cy="946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0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494949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Diagram CRUD action (U)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853960" y="1692162"/>
            <a:ext cx="6580080" cy="8135180"/>
          </a:xfrm>
          <a:custGeom>
            <a:avLst/>
            <a:gdLst/>
            <a:ahLst/>
            <a:cxnLst/>
            <a:rect l="l" t="t" r="r" b="b"/>
            <a:pathLst>
              <a:path w="6580080" h="8135180">
                <a:moveTo>
                  <a:pt x="0" y="0"/>
                </a:moveTo>
                <a:lnTo>
                  <a:pt x="6580080" y="0"/>
                </a:lnTo>
                <a:lnTo>
                  <a:pt x="6580080" y="8135180"/>
                </a:lnTo>
                <a:lnTo>
                  <a:pt x="0" y="81351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3990208" y="342900"/>
            <a:ext cx="10307584" cy="946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0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494949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Diagram CRUD action (D)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911039" y="2074733"/>
            <a:ext cx="10465922" cy="8105969"/>
            <a:chOff x="0" y="0"/>
            <a:chExt cx="1558983" cy="12074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58983" cy="1207449"/>
            </a:xfrm>
            <a:custGeom>
              <a:avLst/>
              <a:gdLst/>
              <a:ahLst/>
              <a:cxnLst/>
              <a:rect l="l" t="t" r="r" b="b"/>
              <a:pathLst>
                <a:path w="1558983" h="1207449">
                  <a:moveTo>
                    <a:pt x="17014" y="0"/>
                  </a:moveTo>
                  <a:lnTo>
                    <a:pt x="1541969" y="0"/>
                  </a:lnTo>
                  <a:cubicBezTo>
                    <a:pt x="1551365" y="0"/>
                    <a:pt x="1558983" y="7617"/>
                    <a:pt x="1558983" y="17014"/>
                  </a:cubicBezTo>
                  <a:lnTo>
                    <a:pt x="1558983" y="1190435"/>
                  </a:lnTo>
                  <a:cubicBezTo>
                    <a:pt x="1558983" y="1199832"/>
                    <a:pt x="1551365" y="1207449"/>
                    <a:pt x="1541969" y="1207449"/>
                  </a:cubicBezTo>
                  <a:lnTo>
                    <a:pt x="17014" y="1207449"/>
                  </a:lnTo>
                  <a:cubicBezTo>
                    <a:pt x="7617" y="1207449"/>
                    <a:pt x="0" y="1199832"/>
                    <a:pt x="0" y="1190435"/>
                  </a:cubicBezTo>
                  <a:lnTo>
                    <a:pt x="0" y="17014"/>
                  </a:lnTo>
                  <a:cubicBezTo>
                    <a:pt x="0" y="7617"/>
                    <a:pt x="7617" y="0"/>
                    <a:pt x="17014" y="0"/>
                  </a:cubicBezTo>
                  <a:close/>
                </a:path>
              </a:pathLst>
            </a:custGeom>
            <a:blipFill>
              <a:blip r:embed="rId2"/>
              <a:stretch>
                <a:fillRect t="-5196" b="-5196"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5757066" y="104775"/>
            <a:ext cx="6773869" cy="1838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1" dirty="0">
                <a:solidFill>
                  <a:srgbClr val="494949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Diagram</a:t>
            </a:r>
          </a:p>
          <a:p>
            <a:pPr marL="0" lvl="0" indent="0" algn="ctr">
              <a:lnSpc>
                <a:spcPts val="72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494949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Database Schema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0288" y="538789"/>
            <a:ext cx="4874981" cy="1233731"/>
          </a:xfrm>
          <a:prstGeom prst="rect">
            <a:avLst/>
          </a:prstGeom>
          <a:solidFill>
            <a:srgbClr val="BCAEFF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1054917" y="743222"/>
            <a:ext cx="3445723" cy="777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6239"/>
              </a:lnSpc>
              <a:spcBef>
                <a:spcPct val="0"/>
              </a:spcBef>
            </a:pPr>
            <a:r>
              <a:rPr lang="en-US" sz="4799" b="1" dirty="0">
                <a:solidFill>
                  <a:srgbClr val="494949"/>
                </a:solidFill>
                <a:latin typeface="Aileron Bold"/>
                <a:ea typeface="Aileron Bold"/>
                <a:cs typeface="Aileron Bold"/>
                <a:sym typeface="Aileron Bold"/>
              </a:rPr>
              <a:t>Library ที่ใช้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005935" y="2235425"/>
            <a:ext cx="7300508" cy="2710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800" dirty="0">
                <a:solidFill>
                  <a:srgbClr val="494949"/>
                </a:solidFill>
                <a:latin typeface="IBM Plex Sans" panose="020B0503050203000203" pitchFamily="34" charset="0"/>
                <a:ea typeface="IBM Plex Sans Bold"/>
                <a:cs typeface="IBM Plex Sans Bold"/>
                <a:sym typeface="IBM Plex Sans Bold"/>
              </a:rPr>
              <a:t>Flask version 2.2.2</a:t>
            </a:r>
          </a:p>
          <a:p>
            <a:pPr marL="571500" indent="-5715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494949"/>
                </a:solidFill>
                <a:latin typeface="IBM Plex Sans" panose="020B0503050203000203" pitchFamily="34" charset="0"/>
                <a:ea typeface="IBM Plex Sans Bold"/>
                <a:cs typeface="IBM Plex Sans Bold"/>
                <a:sym typeface="IBM Plex Sans Bold"/>
              </a:rPr>
              <a:t>Flask-WTF version 1.0.1</a:t>
            </a:r>
          </a:p>
          <a:p>
            <a:pPr marL="571500" indent="-5715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494949"/>
                </a:solidFill>
                <a:latin typeface="IBM Plex Sans" panose="020B0503050203000203" pitchFamily="34" charset="0"/>
                <a:ea typeface="IBM Plex Sans Bold"/>
                <a:cs typeface="IBM Plex Sans Bold"/>
                <a:sym typeface="IBM Plex Sans Bold"/>
              </a:rPr>
              <a:t>Flask-SQLAlchemy version 3.0.3</a:t>
            </a:r>
          </a:p>
          <a:p>
            <a:pPr marL="1485900" lvl="2" indent="-571500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494949"/>
                </a:solidFill>
                <a:latin typeface="IBM Plex Sans" panose="020B0503050203000203" pitchFamily="34" charset="0"/>
                <a:ea typeface="IBM Plex Sans Bold"/>
                <a:cs typeface="IBM Plex Sans Bold"/>
                <a:sym typeface="IBM Plex Sans Bold"/>
              </a:rPr>
              <a:t>SQLAlchemy-serializer version 1.4.1</a:t>
            </a:r>
          </a:p>
          <a:p>
            <a:pPr marL="457200" marR="0" lvl="0" indent="-457200" defTabSz="914400" rtl="0" eaLnBrk="1" fontAlgn="auto" latinLnBrk="0" hangingPunct="1">
              <a:lnSpc>
                <a:spcPts val="432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srgbClr val="494949"/>
                </a:solidFill>
                <a:latin typeface="IBM Plex Sans" panose="020B0503050203000203" pitchFamily="34" charset="0"/>
                <a:ea typeface="IBM Plex Sans Bold"/>
                <a:cs typeface="IBM Plex Sans Bold"/>
                <a:sym typeface="IBM Plex Sans Bold"/>
              </a:rPr>
              <a:t>Flask-Login version 0.6.3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3238556" y="790847"/>
            <a:ext cx="4264675" cy="4264675"/>
            <a:chOff x="0" y="0"/>
            <a:chExt cx="6350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A8DC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4430375" y="7166329"/>
            <a:ext cx="5657850" cy="5657850"/>
            <a:chOff x="0" y="0"/>
            <a:chExt cx="6350000" cy="6350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A8DC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-3374694" y="2668419"/>
            <a:ext cx="5657850" cy="5657850"/>
            <a:chOff x="0" y="0"/>
            <a:chExt cx="6350000" cy="6350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A8DC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74019979-EAB5-A1DE-2268-08A89D2BA5B2}"/>
              </a:ext>
            </a:extLst>
          </p:cNvPr>
          <p:cNvSpPr txBox="1"/>
          <p:nvPr/>
        </p:nvSpPr>
        <p:spPr>
          <a:xfrm>
            <a:off x="8939639" y="5198305"/>
            <a:ext cx="4533437" cy="2802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32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IBM Plex Sans" panose="020B0503050203000203" pitchFamily="34" charset="0"/>
                <a:ea typeface="IBM Plex Sans Bold"/>
                <a:cs typeface="IBM Plex Sans Bold"/>
                <a:sym typeface="IBM Plex Sans Bold"/>
              </a:rPr>
              <a:t>Authlib version 1.3.0</a:t>
            </a:r>
          </a:p>
          <a:p>
            <a:pPr marL="0" marR="0" lvl="0" indent="0" algn="l" defTabSz="914400" rtl="0" eaLnBrk="1" fontAlgn="auto" latinLnBrk="0" hangingPunct="1">
              <a:lnSpc>
                <a:spcPts val="432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IBM Plex Sans" panose="020B0503050203000203" pitchFamily="34" charset="0"/>
                <a:ea typeface="IBM Plex Sans Bold"/>
                <a:cs typeface="IBM Plex Sans Bold"/>
                <a:sym typeface="IBM Plex Sans Bold"/>
              </a:rPr>
              <a:t>requests version 2.31.0</a:t>
            </a:r>
          </a:p>
          <a:p>
            <a:pPr marL="0" marR="0" lvl="0" indent="0" algn="l" defTabSz="914400" rtl="0" eaLnBrk="1" fontAlgn="auto" latinLnBrk="0" hangingPunct="1">
              <a:lnSpc>
                <a:spcPts val="432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IBM Plex Sans" panose="020B0503050203000203" pitchFamily="34" charset="0"/>
                <a:ea typeface="IBM Plex Sans Bold"/>
                <a:cs typeface="IBM Plex Sans Bold"/>
                <a:sym typeface="IBM Plex Sans Bold"/>
              </a:rPr>
              <a:t>pytesseract version 0.3.10</a:t>
            </a:r>
          </a:p>
          <a:p>
            <a:pPr marL="0" marR="0" lvl="0" indent="0" algn="l" defTabSz="914400" rtl="0" eaLnBrk="1" fontAlgn="auto" latinLnBrk="0" hangingPunct="1">
              <a:lnSpc>
                <a:spcPts val="432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IBM Plex Sans" panose="020B0503050203000203" pitchFamily="34" charset="0"/>
                <a:ea typeface="IBM Plex Sans Bold"/>
                <a:cs typeface="IBM Plex Sans Bold"/>
                <a:sym typeface="IBM Plex Sans Bold"/>
              </a:rPr>
              <a:t>Pillow version 10.2.0</a:t>
            </a:r>
          </a:p>
          <a:p>
            <a:pPr marL="0" marR="0" lvl="0" indent="0" algn="l" defTabSz="914400" rtl="0" eaLnBrk="1" fontAlgn="auto" latinLnBrk="0" hangingPunct="1">
              <a:lnSpc>
                <a:spcPts val="432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IBM Plex Sans" panose="020B0503050203000203" pitchFamily="34" charset="0"/>
                <a:ea typeface="IBM Plex Sans Bold"/>
                <a:cs typeface="IBM Plex Sans Bold"/>
                <a:sym typeface="IBM Plex Sans Bold"/>
              </a:rPr>
              <a:t>pdf2image version 1.17.0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190EC95-46F4-DC12-8EBD-0020D6DF2710}"/>
              </a:ext>
            </a:extLst>
          </p:cNvPr>
          <p:cNvSpPr txBox="1"/>
          <p:nvPr/>
        </p:nvSpPr>
        <p:spPr>
          <a:xfrm>
            <a:off x="2927555" y="5231478"/>
            <a:ext cx="5054785" cy="2802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32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IBM Plex Sans" panose="020B0503050203000203" pitchFamily="34" charset="0"/>
                <a:ea typeface="IBM Plex Sans Bold"/>
                <a:cs typeface="IBM Plex Sans Bold"/>
                <a:sym typeface="IBM Plex Sans Bold"/>
              </a:rPr>
              <a:t>gunicorn version 20.1.0</a:t>
            </a:r>
          </a:p>
          <a:p>
            <a:pPr marL="0" marR="0" lvl="0" indent="0" algn="l" defTabSz="914400" rtl="0" eaLnBrk="1" fontAlgn="auto" latinLnBrk="0" hangingPunct="1">
              <a:lnSpc>
                <a:spcPts val="432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IBM Plex Sans" panose="020B0503050203000203" pitchFamily="34" charset="0"/>
                <a:ea typeface="IBM Plex Sans Bold"/>
                <a:cs typeface="IBM Plex Sans Bold"/>
                <a:sym typeface="IBM Plex Sans Bold"/>
              </a:rPr>
              <a:t>Werkzeug version 2.2.2</a:t>
            </a:r>
          </a:p>
          <a:p>
            <a:pPr marL="0" marR="0" lvl="0" indent="0" algn="l" defTabSz="914400" rtl="0" eaLnBrk="1" fontAlgn="auto" latinLnBrk="0" hangingPunct="1">
              <a:lnSpc>
                <a:spcPts val="432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IBM Plex Sans" panose="020B0503050203000203" pitchFamily="34" charset="0"/>
                <a:ea typeface="IBM Plex Sans Bold"/>
                <a:cs typeface="IBM Plex Sans Bold"/>
                <a:sym typeface="IBM Plex Sans Bold"/>
              </a:rPr>
              <a:t>email-validator version 2.0.0</a:t>
            </a:r>
          </a:p>
          <a:p>
            <a:pPr marL="0" marR="0" lvl="0" indent="0" algn="l" defTabSz="914400" rtl="0" eaLnBrk="1" fontAlgn="auto" latinLnBrk="0" hangingPunct="1">
              <a:lnSpc>
                <a:spcPts val="432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IBM Plex Sans" panose="020B0503050203000203" pitchFamily="34" charset="0"/>
                <a:ea typeface="IBM Plex Sans Bold"/>
                <a:cs typeface="IBM Plex Sans Bold"/>
                <a:sym typeface="IBM Plex Sans Bold"/>
              </a:rPr>
              <a:t>bcrypt version 4.1.2</a:t>
            </a:r>
          </a:p>
          <a:p>
            <a:pPr>
              <a:lnSpc>
                <a:spcPts val="4320"/>
              </a:lnSpc>
              <a:spcBef>
                <a:spcPct val="0"/>
              </a:spcBef>
              <a:defRPr/>
            </a:pP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IBM Plex Sans" panose="020B0503050203000203" pitchFamily="34" charset="0"/>
                <a:ea typeface="IBM Plex Sans Bold"/>
                <a:cs typeface="IBM Plex Sans Bold"/>
                <a:sym typeface="IBM Plex Sans Bold"/>
              </a:rPr>
              <a:t>psycopg2-binary version 2.9.9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4E845A4-8F1B-F216-9C23-589798F1FD1A}"/>
              </a:ext>
            </a:extLst>
          </p:cNvPr>
          <p:cNvCxnSpPr/>
          <p:nvPr/>
        </p:nvCxnSpPr>
        <p:spPr>
          <a:xfrm>
            <a:off x="2895600" y="5055522"/>
            <a:ext cx="10591800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65947" y="463897"/>
            <a:ext cx="3895345" cy="1168132"/>
          </a:xfrm>
          <a:prstGeom prst="rect">
            <a:avLst/>
          </a:prstGeom>
          <a:solidFill>
            <a:srgbClr val="BCAEFF"/>
          </a:solid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16737827" y="8789736"/>
            <a:ext cx="1273509" cy="1273509"/>
            <a:chOff x="0" y="0"/>
            <a:chExt cx="6350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A8DC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725596" y="2136433"/>
            <a:ext cx="1680113" cy="1680113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A8DC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725596" y="3238806"/>
            <a:ext cx="2648985" cy="2648985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50711" r="-50711" b="-13339"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757665" y="409388"/>
            <a:ext cx="1277149" cy="1277149"/>
            <a:chOff x="0" y="0"/>
            <a:chExt cx="6350000" cy="635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A8DC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102411" y="1056530"/>
            <a:ext cx="2623185" cy="2623185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414004" y="4825518"/>
            <a:ext cx="1277149" cy="1277149"/>
            <a:chOff x="0" y="0"/>
            <a:chExt cx="6350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A8DC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773054" y="5033963"/>
            <a:ext cx="2623185" cy="2623185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8175" r="-8175" b="-16350"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949154" y="7440060"/>
            <a:ext cx="2623185" cy="2623185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446072" y="8026609"/>
            <a:ext cx="967932" cy="967932"/>
            <a:chOff x="0" y="0"/>
            <a:chExt cx="6350000" cy="6350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A8DC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6050089" y="572564"/>
            <a:ext cx="967932" cy="967932"/>
            <a:chOff x="0" y="0"/>
            <a:chExt cx="6350000" cy="6350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A8DC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478140" y="3694556"/>
            <a:ext cx="967932" cy="967932"/>
            <a:chOff x="0" y="0"/>
            <a:chExt cx="6350000" cy="6350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A8DC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5897300" y="6102668"/>
            <a:ext cx="1273509" cy="1273509"/>
            <a:chOff x="0" y="0"/>
            <a:chExt cx="6350000" cy="6350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A8DC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973714" y="715217"/>
            <a:ext cx="3185995" cy="644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1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494949"/>
                </a:solidFill>
                <a:latin typeface="Aileron Bold"/>
                <a:ea typeface="Aileron Bold"/>
                <a:cs typeface="Aileron Bold"/>
                <a:sym typeface="Aileron Bold"/>
              </a:rPr>
              <a:t>ความรู้เพิ่มเติม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797970" y="1839302"/>
            <a:ext cx="1764434" cy="495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4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49494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Chart.js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550445" y="2557390"/>
            <a:ext cx="7355555" cy="854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800" dirty="0">
                <a:solidFill>
                  <a:srgbClr val="494949"/>
                </a:solidFill>
                <a:latin typeface="IBM Plex Sans"/>
                <a:ea typeface="IBM Plex Sans"/>
                <a:cs typeface="IBM Plex Sans"/>
                <a:sym typeface="IBM Plex Sans"/>
              </a:rPr>
              <a:t>นำมาใช้ในการสร้างกราฟสรุปผลรายรับ-รายจ่ายในหน้า homepage และ report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797970" y="3759518"/>
            <a:ext cx="2763322" cy="495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4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49494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pytesseract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797970" y="6093143"/>
            <a:ext cx="1798877" cy="495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4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49494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Pillow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797970" y="8499240"/>
            <a:ext cx="2469230" cy="495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84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49494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pdf2image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550445" y="4473892"/>
            <a:ext cx="7911034" cy="1257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800" dirty="0">
                <a:solidFill>
                  <a:srgbClr val="494949"/>
                </a:solidFill>
                <a:latin typeface="IBM Plex Sans"/>
                <a:ea typeface="IBM Plex Sans"/>
                <a:cs typeface="IBM Plex Sans"/>
                <a:sym typeface="IBM Plex Sans"/>
              </a:rPr>
              <a:t>นำมาใช้ในการแปลงสะลิปโอนเงินจากแอปพลิเคชันธนาคารต่างๆให้กลายเป็นข้อความและนำข้อความมาใช้ในการระบุจำนวนเงินของรายรับหรือรายจ่าย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566711" y="9213615"/>
            <a:ext cx="4579548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800" dirty="0">
                <a:solidFill>
                  <a:srgbClr val="494949"/>
                </a:solidFill>
                <a:latin typeface="IBM Plex Sans"/>
                <a:ea typeface="IBM Plex Sans"/>
                <a:cs typeface="IBM Plex Sans"/>
                <a:sym typeface="IBM Plex Sans"/>
              </a:rPr>
              <a:t>แปลงไฟล์ pdf ให้เป็นไฟล์รูปภาพ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566711" y="6811410"/>
            <a:ext cx="7911034" cy="167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dirty="0">
                <a:solidFill>
                  <a:srgbClr val="494949"/>
                </a:solidFill>
                <a:latin typeface="IBM Plex Sans"/>
                <a:ea typeface="IBM Plex Sans"/>
                <a:cs typeface="IBM Plex Sans"/>
                <a:sym typeface="IBM Plex Sans"/>
              </a:rPr>
              <a:t>เปิดไฟล์ภาพในหลายรูปแบบ เช่น PNG, JPEG, PDF ภาพที่ได้จะถูกแปลงเป็นอ็อบเจกต์ที่สามารถนำไปประมวลผลต่อด้วย pytesseract เพื่อดึงข้อความออกจากภาพ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  <a:endParaRPr lang="en-US" sz="2800" dirty="0">
              <a:solidFill>
                <a:srgbClr val="494949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50404" y="490564"/>
            <a:ext cx="4526396" cy="9072536"/>
          </a:xfrm>
          <a:prstGeom prst="rect">
            <a:avLst/>
          </a:prstGeom>
          <a:solidFill>
            <a:srgbClr val="BCAEFF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1028868" y="864340"/>
            <a:ext cx="3169468" cy="2328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6239"/>
              </a:lnSpc>
              <a:spcBef>
                <a:spcPct val="0"/>
              </a:spcBef>
            </a:pPr>
            <a:r>
              <a:rPr lang="en-US" sz="4799" b="1" dirty="0" err="1">
                <a:solidFill>
                  <a:srgbClr val="494949"/>
                </a:solidFill>
                <a:latin typeface="Aileron Bold"/>
                <a:ea typeface="Aileron Bold"/>
                <a:cs typeface="Aileron Bold"/>
                <a:sym typeface="Aileron Bold"/>
              </a:rPr>
              <a:t>ปัญหาที่พบ</a:t>
            </a:r>
            <a:endParaRPr lang="en-US" sz="4799" b="1" dirty="0">
              <a:solidFill>
                <a:srgbClr val="494949"/>
              </a:solidFill>
              <a:latin typeface="Aileron Bold"/>
              <a:ea typeface="Aileron Bold"/>
              <a:cs typeface="Aileron Bold"/>
              <a:sym typeface="Aileron Bold"/>
            </a:endParaRPr>
          </a:p>
          <a:p>
            <a:pPr marL="0" lvl="0" indent="0" algn="just">
              <a:lnSpc>
                <a:spcPts val="6239"/>
              </a:lnSpc>
              <a:spcBef>
                <a:spcPct val="0"/>
              </a:spcBef>
            </a:pPr>
            <a:r>
              <a:rPr lang="en-US" sz="4799" b="1" dirty="0">
                <a:solidFill>
                  <a:srgbClr val="494949"/>
                </a:solidFill>
                <a:latin typeface="Aileron Bold"/>
                <a:ea typeface="Aileron Bold"/>
                <a:cs typeface="Aileron Bold"/>
                <a:sym typeface="Aileron Bold"/>
              </a:rPr>
              <a:t>และ</a:t>
            </a:r>
          </a:p>
          <a:p>
            <a:pPr marL="0" lvl="0" indent="0" algn="just">
              <a:lnSpc>
                <a:spcPts val="6239"/>
              </a:lnSpc>
              <a:spcBef>
                <a:spcPct val="0"/>
              </a:spcBef>
            </a:pPr>
            <a:r>
              <a:rPr lang="en-US" sz="4799" b="1" dirty="0">
                <a:solidFill>
                  <a:srgbClr val="494949"/>
                </a:solidFill>
                <a:latin typeface="Aileron Bold"/>
                <a:ea typeface="Aileron Bold"/>
                <a:cs typeface="Aileron Bold"/>
                <a:sym typeface="Aileron Bold"/>
              </a:rPr>
              <a:t>การแก้ไข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889724" y="1438356"/>
            <a:ext cx="11369408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40"/>
              </a:lnSpc>
              <a:spcBef>
                <a:spcPct val="0"/>
              </a:spcBef>
            </a:pPr>
            <a:r>
              <a:rPr lang="en-US" sz="3200" b="1" dirty="0" err="1">
                <a:solidFill>
                  <a:srgbClr val="49494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ปัญหา</a:t>
            </a:r>
            <a:r>
              <a:rPr lang="en-US" sz="3200" b="1" dirty="0">
                <a:solidFill>
                  <a:srgbClr val="49494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: </a:t>
            </a:r>
            <a:r>
              <a:rPr lang="en-US" sz="3200" dirty="0" err="1">
                <a:solidFill>
                  <a:srgbClr val="494949"/>
                </a:solidFill>
                <a:latin typeface="IBM Plex Sans" panose="020B0503050203000203" pitchFamily="34" charset="0"/>
                <a:ea typeface="IBM Plex Sans Bold"/>
                <a:cs typeface="IBM Plex Sans Bold"/>
                <a:sym typeface="IBM Plex Sans Bold"/>
              </a:rPr>
              <a:t>ในการ</a:t>
            </a:r>
            <a:r>
              <a:rPr lang="en-US" sz="3200" dirty="0">
                <a:solidFill>
                  <a:srgbClr val="494949"/>
                </a:solidFill>
                <a:latin typeface="IBM Plex Sans" panose="020B0503050203000203" pitchFamily="34" charset="0"/>
                <a:ea typeface="IBM Plex Sans Bold"/>
                <a:cs typeface="IBM Plex Sans Bold"/>
                <a:sym typeface="IBM Plex Sans Bold"/>
              </a:rPr>
              <a:t> pull code ลงมาในเครื่องแล้วไม่สามารถ run docker ได้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889724" y="2332897"/>
            <a:ext cx="9677400" cy="974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4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49494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การแก้ไข</a:t>
            </a:r>
            <a:r>
              <a:rPr lang="en-US" sz="3200" dirty="0">
                <a:solidFill>
                  <a:srgbClr val="494949"/>
                </a:solidFill>
                <a:latin typeface="IBM Plex Sans"/>
                <a:ea typeface="IBM Plex Sans"/>
                <a:cs typeface="IBM Plex Sans"/>
                <a:sym typeface="IBM Plex Sans"/>
              </a:rPr>
              <a:t> : ทำการ execute file ใหม่ </a:t>
            </a:r>
          </a:p>
          <a:p>
            <a:pPr algn="l">
              <a:lnSpc>
                <a:spcPts val="3840"/>
              </a:lnSpc>
              <a:spcBef>
                <a:spcPct val="0"/>
              </a:spcBef>
            </a:pPr>
            <a:r>
              <a:rPr lang="en-US" sz="3200" dirty="0">
                <a:solidFill>
                  <a:srgbClr val="494949"/>
                </a:solidFill>
                <a:latin typeface="IBM Plex Sans"/>
                <a:ea typeface="IBM Plex Sans"/>
                <a:cs typeface="IBM Plex Sans"/>
                <a:sym typeface="IBM Plex Sans"/>
              </a:rPr>
              <a:t>คือ gunicorn_starter.sh และ run_docker_compose.sh</a:t>
            </a:r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4D592950-86DE-977C-47A8-6CFCD1FA34BD}"/>
              </a:ext>
            </a:extLst>
          </p:cNvPr>
          <p:cNvSpPr/>
          <p:nvPr/>
        </p:nvSpPr>
        <p:spPr>
          <a:xfrm>
            <a:off x="685800" y="5143500"/>
            <a:ext cx="3759001" cy="3505200"/>
          </a:xfrm>
          <a:custGeom>
            <a:avLst/>
            <a:gdLst/>
            <a:ahLst/>
            <a:cxnLst/>
            <a:rect l="l" t="t" r="r" b="b"/>
            <a:pathLst>
              <a:path w="4348534" h="4114800">
                <a:moveTo>
                  <a:pt x="0" y="0"/>
                </a:moveTo>
                <a:lnTo>
                  <a:pt x="4348534" y="0"/>
                </a:lnTo>
                <a:lnTo>
                  <a:pt x="43485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2">
            <a:extLst>
              <a:ext uri="{FF2B5EF4-FFF2-40B4-BE49-F238E27FC236}">
                <a16:creationId xmlns:a16="http://schemas.microsoft.com/office/drawing/2014/main" id="{9D880EA4-C051-3C98-1EAC-C531E25B47FA}"/>
              </a:ext>
            </a:extLst>
          </p:cNvPr>
          <p:cNvGrpSpPr/>
          <p:nvPr/>
        </p:nvGrpSpPr>
        <p:grpSpPr>
          <a:xfrm>
            <a:off x="14935200" y="7299367"/>
            <a:ext cx="5657850" cy="5657850"/>
            <a:chOff x="0" y="0"/>
            <a:chExt cx="6350000" cy="6350000"/>
          </a:xfrm>
        </p:grpSpPr>
        <p:sp>
          <p:nvSpPr>
            <p:cNvPr id="11" name="Freeform 3">
              <a:extLst>
                <a:ext uri="{FF2B5EF4-FFF2-40B4-BE49-F238E27FC236}">
                  <a16:creationId xmlns:a16="http://schemas.microsoft.com/office/drawing/2014/main" id="{41A80F4F-A7E4-71A2-2602-4DB70125883D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A8DC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12" name="Group 2">
            <a:extLst>
              <a:ext uri="{FF2B5EF4-FFF2-40B4-BE49-F238E27FC236}">
                <a16:creationId xmlns:a16="http://schemas.microsoft.com/office/drawing/2014/main" id="{B2B7208C-E450-BC5D-E86A-F86C840964F7}"/>
              </a:ext>
            </a:extLst>
          </p:cNvPr>
          <p:cNvGrpSpPr/>
          <p:nvPr/>
        </p:nvGrpSpPr>
        <p:grpSpPr>
          <a:xfrm>
            <a:off x="7678941" y="4543425"/>
            <a:ext cx="2467898" cy="2352675"/>
            <a:chOff x="0" y="0"/>
            <a:chExt cx="6350000" cy="6350000"/>
          </a:xfrm>
        </p:grpSpPr>
        <p:sp>
          <p:nvSpPr>
            <p:cNvPr id="13" name="Freeform 3">
              <a:extLst>
                <a:ext uri="{FF2B5EF4-FFF2-40B4-BE49-F238E27FC236}">
                  <a16:creationId xmlns:a16="http://schemas.microsoft.com/office/drawing/2014/main" id="{80802FB2-0E34-2D75-24F2-7B0C135A6268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A8DC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14" name="Group 2">
            <a:extLst>
              <a:ext uri="{FF2B5EF4-FFF2-40B4-BE49-F238E27FC236}">
                <a16:creationId xmlns:a16="http://schemas.microsoft.com/office/drawing/2014/main" id="{1F672D10-1313-6F1D-0311-A0C256168E8A}"/>
              </a:ext>
            </a:extLst>
          </p:cNvPr>
          <p:cNvGrpSpPr/>
          <p:nvPr/>
        </p:nvGrpSpPr>
        <p:grpSpPr>
          <a:xfrm>
            <a:off x="12579094" y="5372100"/>
            <a:ext cx="2133600" cy="1962150"/>
            <a:chOff x="0" y="0"/>
            <a:chExt cx="6350000" cy="6350000"/>
          </a:xfrm>
        </p:grpSpPr>
        <p:sp>
          <p:nvSpPr>
            <p:cNvPr id="15" name="Freeform 3">
              <a:extLst>
                <a:ext uri="{FF2B5EF4-FFF2-40B4-BE49-F238E27FC236}">
                  <a16:creationId xmlns:a16="http://schemas.microsoft.com/office/drawing/2014/main" id="{A176B00E-2954-1EB4-6564-5A46332E0F8F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A8DC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16" name="Group 2">
            <a:extLst>
              <a:ext uri="{FF2B5EF4-FFF2-40B4-BE49-F238E27FC236}">
                <a16:creationId xmlns:a16="http://schemas.microsoft.com/office/drawing/2014/main" id="{DFD80B32-37A3-CD97-3723-80A03192DE02}"/>
              </a:ext>
            </a:extLst>
          </p:cNvPr>
          <p:cNvGrpSpPr/>
          <p:nvPr/>
        </p:nvGrpSpPr>
        <p:grpSpPr>
          <a:xfrm>
            <a:off x="9238534" y="7891687"/>
            <a:ext cx="1816611" cy="1671413"/>
            <a:chOff x="0" y="0"/>
            <a:chExt cx="6350000" cy="6350000"/>
          </a:xfrm>
        </p:grpSpPr>
        <p:sp>
          <p:nvSpPr>
            <p:cNvPr id="17" name="Freeform 3">
              <a:extLst>
                <a:ext uri="{FF2B5EF4-FFF2-40B4-BE49-F238E27FC236}">
                  <a16:creationId xmlns:a16="http://schemas.microsoft.com/office/drawing/2014/main" id="{DC3AC486-FEC0-F46D-3BA8-7D21FE3F19F9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A8DC"/>
            </a:solidFill>
          </p:spPr>
          <p:txBody>
            <a:bodyPr/>
            <a:lstStyle/>
            <a:p>
              <a:endParaRPr lang="en-US" dirty="0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982715" y="1792225"/>
            <a:ext cx="5657850" cy="5657850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A8DC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161652" y="-2828925"/>
            <a:ext cx="5657850" cy="5657850"/>
            <a:chOff x="0" y="0"/>
            <a:chExt cx="6350000" cy="635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A8DC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90055" y="5816352"/>
            <a:ext cx="5657850" cy="5657850"/>
            <a:chOff x="0" y="0"/>
            <a:chExt cx="6350000" cy="635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A8DC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052815" y="1657350"/>
            <a:ext cx="6182370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8000" b="1" dirty="0">
                <a:solidFill>
                  <a:srgbClr val="494949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THANK YOU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21148" y="3467100"/>
            <a:ext cx="2445703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r>
              <a:rPr lang="en-US" sz="5000" dirty="0">
                <a:solidFill>
                  <a:srgbClr val="494949"/>
                </a:solidFill>
                <a:latin typeface="IBM Plex Sans"/>
                <a:ea typeface="IBM Plex Sans"/>
                <a:cs typeface="IBM Plex Sans"/>
                <a:sym typeface="IBM Plex Sans"/>
              </a:rPr>
              <a:t>กลุ่มที่ 12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499751" y="4810125"/>
            <a:ext cx="9288497" cy="381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dirty="0">
                <a:solidFill>
                  <a:srgbClr val="494949"/>
                </a:solidFill>
                <a:latin typeface="IBM Plex Sans"/>
                <a:ea typeface="IBM Plex Sans"/>
                <a:cs typeface="IBM Plex Sans"/>
                <a:sym typeface="IBM Plex Sans"/>
              </a:rPr>
              <a:t>ติณห์ อุปติ 660510650</a:t>
            </a:r>
          </a:p>
          <a:p>
            <a:pPr algn="ctr">
              <a:lnSpc>
                <a:spcPts val="6000"/>
              </a:lnSpc>
            </a:pPr>
            <a:r>
              <a:rPr lang="en-US" sz="5000" dirty="0">
                <a:solidFill>
                  <a:srgbClr val="494949"/>
                </a:solidFill>
                <a:latin typeface="IBM Plex Sans"/>
                <a:ea typeface="IBM Plex Sans"/>
                <a:cs typeface="IBM Plex Sans"/>
                <a:sym typeface="IBM Plex Sans"/>
              </a:rPr>
              <a:t>วุฒิภัทร ถิ่นหลวง 660510677</a:t>
            </a:r>
          </a:p>
          <a:p>
            <a:pPr algn="ctr">
              <a:lnSpc>
                <a:spcPts val="6000"/>
              </a:lnSpc>
            </a:pPr>
            <a:r>
              <a:rPr lang="en-US" sz="5000" dirty="0">
                <a:solidFill>
                  <a:srgbClr val="494949"/>
                </a:solidFill>
                <a:latin typeface="IBM Plex Sans"/>
                <a:ea typeface="IBM Plex Sans"/>
                <a:cs typeface="IBM Plex Sans"/>
                <a:sym typeface="IBM Plex Sans"/>
              </a:rPr>
              <a:t>กมลภู อุตรพงศ์ 660510688</a:t>
            </a:r>
          </a:p>
          <a:p>
            <a:pPr algn="ctr">
              <a:lnSpc>
                <a:spcPts val="6000"/>
              </a:lnSpc>
            </a:pPr>
            <a:r>
              <a:rPr lang="en-US" sz="5000" dirty="0">
                <a:solidFill>
                  <a:srgbClr val="494949"/>
                </a:solidFill>
                <a:latin typeface="IBM Plex Sans"/>
                <a:ea typeface="IBM Plex Sans"/>
                <a:cs typeface="IBM Plex Sans"/>
                <a:sym typeface="IBM Plex Sans"/>
              </a:rPr>
              <a:t>สุชานันท์ อ่อนศรีประไพ 660510729</a:t>
            </a:r>
          </a:p>
          <a:p>
            <a:pPr marL="0" lvl="0" indent="0" algn="ctr">
              <a:lnSpc>
                <a:spcPts val="6000"/>
              </a:lnSpc>
              <a:spcBef>
                <a:spcPct val="0"/>
              </a:spcBef>
            </a:pPr>
            <a:endParaRPr lang="en-US" sz="5000" dirty="0">
              <a:solidFill>
                <a:srgbClr val="494949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587</Words>
  <Application>Microsoft Office PowerPoint</Application>
  <PresentationFormat>Custom</PresentationFormat>
  <Paragraphs>108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Aileron Ultra-Bold</vt:lpstr>
      <vt:lpstr>Aileron Bold</vt:lpstr>
      <vt:lpstr>IBM Plex Sans Bold</vt:lpstr>
      <vt:lpstr>Arial</vt:lpstr>
      <vt:lpstr>IBM Plex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Yellow Bold Shapes Finance Report Finance Presentation</dc:title>
  <dc:creator>Asus</dc:creator>
  <cp:lastModifiedBy>KAMONPKU UTARAPONG</cp:lastModifiedBy>
  <cp:revision>2</cp:revision>
  <dcterms:created xsi:type="dcterms:W3CDTF">2006-08-16T00:00:00Z</dcterms:created>
  <dcterms:modified xsi:type="dcterms:W3CDTF">2025-03-04T00:43:31Z</dcterms:modified>
  <dc:identifier>DAGgIAIuRqU</dc:identifier>
</cp:coreProperties>
</file>